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E29304A-F4EE-4F81-B0A5-763C55CF9C8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832982-A4AC-4321-8525-9D3194BDF5A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B476CA-897F-412B-A828-A4DD6F89F70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07F5DA-646E-494A-B9D7-030F46BFA4C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9CAE90-7B3A-42A7-885E-67D77EE5E93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AF9C6A-BFB7-4FFC-A8D5-33D2E2FA160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86005C-23BC-499C-9B73-0E498E1F8F0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17C937-197D-42AC-944E-FB6F3F23AD2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B85EB2-2D23-41BA-9DBA-82BC1652772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067E80-1F15-4FA3-B503-F673C676F47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DBF3D3-173C-4BAA-B9C1-F65D2A53F5C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gradFill rotWithShape="0">
            <a:gsLst>
              <a:gs pos="0">
                <a:srgbClr val="1a1209">
                  <a:alpha val="90000"/>
                </a:srgbClr>
              </a:gs>
              <a:gs pos="100000">
                <a:srgbClr val="1a1209">
                  <a:alpha val="70000"/>
                </a:srgbClr>
              </a:gs>
            </a:gsLst>
            <a:lin ang="13500000"/>
          </a:gra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7842240" y="2286000"/>
            <a:ext cx="571320" cy="761760"/>
          </a:xfrm>
          <a:custGeom>
            <a:avLst/>
            <a:gdLst>
              <a:gd name="textAreaLeft" fmla="*/ 0 w 571320"/>
              <a:gd name="textAreaRight" fmla="*/ 571680 w 571320"/>
              <a:gd name="textAreaTop" fmla="*/ 0 h 761760"/>
              <a:gd name="textAreaBottom" fmla="*/ 762120 h 761760"/>
            </a:gdLst>
            <a:ahLst/>
            <a:rect l="textAreaLeft" t="textAreaTop" r="textAreaRight" b="textAreaBottom"/>
            <a:pathLst>
              <a:path w="571500" h="762000">
                <a:moveTo>
                  <a:pt x="47625" y="47625"/>
                </a:moveTo>
                <a:cubicBezTo>
                  <a:pt x="47625" y="21282"/>
                  <a:pt x="68907" y="0"/>
                  <a:pt x="95250" y="0"/>
                </a:cubicBezTo>
                <a:lnTo>
                  <a:pt x="476250" y="0"/>
                </a:lnTo>
                <a:cubicBezTo>
                  <a:pt x="502593" y="0"/>
                  <a:pt x="523875" y="21282"/>
                  <a:pt x="523875" y="47625"/>
                </a:cubicBezTo>
                <a:cubicBezTo>
                  <a:pt x="523875" y="73968"/>
                  <a:pt x="502593" y="95250"/>
                  <a:pt x="476250" y="95250"/>
                </a:cubicBezTo>
                <a:lnTo>
                  <a:pt x="432346" y="95250"/>
                </a:lnTo>
                <a:lnTo>
                  <a:pt x="447675" y="294829"/>
                </a:lnTo>
                <a:cubicBezTo>
                  <a:pt x="502890" y="326380"/>
                  <a:pt x="545604" y="378768"/>
                  <a:pt x="564059" y="443210"/>
                </a:cubicBezTo>
                <a:lnTo>
                  <a:pt x="569714" y="463153"/>
                </a:lnTo>
                <a:cubicBezTo>
                  <a:pt x="573881" y="477589"/>
                  <a:pt x="570905" y="492919"/>
                  <a:pt x="561975" y="504974"/>
                </a:cubicBezTo>
                <a:cubicBezTo>
                  <a:pt x="553045" y="517029"/>
                  <a:pt x="538758" y="523875"/>
                  <a:pt x="523875" y="523875"/>
                </a:cubicBezTo>
                <a:lnTo>
                  <a:pt x="47625" y="523875"/>
                </a:lnTo>
                <a:cubicBezTo>
                  <a:pt x="32742" y="523875"/>
                  <a:pt x="18604" y="516880"/>
                  <a:pt x="9674" y="504974"/>
                </a:cubicBezTo>
                <a:cubicBezTo>
                  <a:pt x="744" y="493068"/>
                  <a:pt x="-2232" y="477589"/>
                  <a:pt x="1935" y="463153"/>
                </a:cubicBezTo>
                <a:lnTo>
                  <a:pt x="7441" y="443210"/>
                </a:lnTo>
                <a:cubicBezTo>
                  <a:pt x="25896" y="378768"/>
                  <a:pt x="68461" y="326380"/>
                  <a:pt x="123825" y="294829"/>
                </a:cubicBezTo>
                <a:lnTo>
                  <a:pt x="139154" y="95250"/>
                </a:lnTo>
                <a:lnTo>
                  <a:pt x="95250" y="95250"/>
                </a:lnTo>
                <a:cubicBezTo>
                  <a:pt x="68907" y="95250"/>
                  <a:pt x="47625" y="73968"/>
                  <a:pt x="47625" y="47625"/>
                </a:cubicBezTo>
                <a:close/>
                <a:moveTo>
                  <a:pt x="238125" y="595313"/>
                </a:moveTo>
                <a:lnTo>
                  <a:pt x="333375" y="595313"/>
                </a:lnTo>
                <a:lnTo>
                  <a:pt x="333375" y="762000"/>
                </a:lnTo>
                <a:cubicBezTo>
                  <a:pt x="333375" y="788343"/>
                  <a:pt x="312093" y="809625"/>
                  <a:pt x="285750" y="809625"/>
                </a:cubicBezTo>
                <a:cubicBezTo>
                  <a:pt x="259407" y="809625"/>
                  <a:pt x="238125" y="788343"/>
                  <a:pt x="238125" y="762000"/>
                </a:cubicBezTo>
                <a:lnTo>
                  <a:pt x="238125" y="595313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  <a:effectLst>
            <a:outerShdw algn="bl" blurRad="101520" dir="5400000" dist="50760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778040" y="3301920"/>
            <a:ext cx="126997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5600" spc="797" strike="noStrike">
                <a:solidFill>
                  <a:srgbClr val="fff8f0"/>
                </a:solidFill>
                <a:latin typeface="Oranienbaum"/>
                <a:ea typeface="Oranienbaum"/>
              </a:rPr>
              <a:t>PINBOARD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3048120" y="4444920"/>
            <a:ext cx="101595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i="1" lang="en-US" sz="2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A Real-Time Collaborative Infinite Corkboard Workspace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6858000" y="5207040"/>
            <a:ext cx="2539800" cy="25200"/>
          </a:xfrm>
          <a:prstGeom prst="rect">
            <a:avLst/>
          </a:pr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440" bIns="-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317840" y="5460840"/>
            <a:ext cx="7619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Bhaumik Jangid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3048120" y="5905440"/>
            <a:ext cx="101595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d4a76a"/>
                </a:solidFill>
                <a:latin typeface="Quattrocento Sans"/>
                <a:ea typeface="Quattrocento Sans"/>
              </a:rPr>
              <a:t>Lovely Professional University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4317840" y="6603840"/>
            <a:ext cx="7619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Major Project | B.Tech Computer Science | 2026-27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2026–27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19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762120" y="444600"/>
            <a:ext cx="8889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The Problem We Solved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762120" y="1270080"/>
            <a:ext cx="4698720" cy="53337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1060560" y="1498680"/>
            <a:ext cx="266400" cy="355320"/>
          </a:xfrm>
          <a:custGeom>
            <a:avLst/>
            <a:gdLst>
              <a:gd name="textAreaLeft" fmla="*/ 0 w 266400"/>
              <a:gd name="textAreaRight" fmla="*/ 266760 w 26640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c45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473120" y="1460520"/>
            <a:ext cx="3682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Existing Tools Fall Short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015920" y="2031840"/>
            <a:ext cx="4190760" cy="43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7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Physical boards can't be shared remotely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Digital tools (Notion, Trello) feel flat and clinical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No real tactile, physical feel in productivity apps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Real-time collaboration is complex to set up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5778360" y="1270080"/>
            <a:ext cx="4698720" cy="53337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6076800" y="1498680"/>
            <a:ext cx="266400" cy="355320"/>
          </a:xfrm>
          <a:custGeom>
            <a:avLst/>
            <a:gdLst>
              <a:gd name="textAreaLeft" fmla="*/ 0 w 266400"/>
              <a:gd name="textAreaRight" fmla="*/ 266760 w 26640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489720" y="1460520"/>
            <a:ext cx="3682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Our Observation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6032520" y="2031840"/>
            <a:ext cx="4190760" cy="43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7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Teams need a shared visual workspace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Remote work demands real-time sync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Users want something physical and intuitive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No tool combines infinite canvas + physical board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10794960" y="1270080"/>
            <a:ext cx="4698720" cy="53337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11049120" y="1498680"/>
            <a:ext cx="355320" cy="355320"/>
          </a:xfrm>
          <a:custGeom>
            <a:avLst/>
            <a:gdLst>
              <a:gd name="textAreaLeft" fmla="*/ 0 w 355320"/>
              <a:gd name="textAreaRight" fmla="*/ 355680 w 35532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5a3e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11506320" y="1460520"/>
            <a:ext cx="36828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The Gap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11049120" y="2031840"/>
            <a:ext cx="4190760" cy="43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7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No product merges skeuomorphic corkboard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No infinite canvas + real-time collaboration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No physics-inspired animations in board tools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The perfect tool simply doesn't exist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762120" y="6921360"/>
            <a:ext cx="14731560" cy="1015560"/>
          </a:xfrm>
          <a:prstGeom prst="roundRect">
            <a:avLst>
              <a:gd name="adj" fmla="val 10000"/>
            </a:avLst>
          </a:prstGeom>
          <a:solidFill>
            <a:srgbClr val="d4a76a">
              <a:alpha val="15000"/>
            </a:srgbClr>
          </a:solidFill>
          <a:ln w="25400">
            <a:solidFill>
              <a:srgbClr val="d4a7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1103400" y="7175520"/>
            <a:ext cx="333000" cy="380520"/>
          </a:xfrm>
          <a:custGeom>
            <a:avLst/>
            <a:gdLst>
              <a:gd name="textAreaLeft" fmla="*/ 0 w 333000"/>
              <a:gd name="textAreaRight" fmla="*/ 333360 w 333000"/>
              <a:gd name="textAreaTop" fmla="*/ 0 h 380520"/>
              <a:gd name="textAreaBottom" fmla="*/ 380880 h 380520"/>
            </a:gdLst>
            <a:ahLst/>
            <a:rect l="textAreaLeft" t="textAreaTop" r="textAreaRight" b="textAreaBottom"/>
            <a:pathLst>
              <a:path w="333375" h="381000">
                <a:moveTo>
                  <a:pt x="0" y="160734"/>
                </a:moveTo>
                <a:cubicBezTo>
                  <a:pt x="0" y="111398"/>
                  <a:pt x="39960" y="71438"/>
                  <a:pt x="89297" y="71438"/>
                </a:cubicBezTo>
                <a:lnTo>
                  <a:pt x="95250" y="71438"/>
                </a:lnTo>
                <a:cubicBezTo>
                  <a:pt x="108421" y="71438"/>
                  <a:pt x="119063" y="82079"/>
                  <a:pt x="119063" y="95250"/>
                </a:cubicBezTo>
                <a:cubicBezTo>
                  <a:pt x="119063" y="108421"/>
                  <a:pt x="108421" y="119063"/>
                  <a:pt x="95250" y="119063"/>
                </a:cubicBezTo>
                <a:lnTo>
                  <a:pt x="89297" y="119063"/>
                </a:lnTo>
                <a:cubicBezTo>
                  <a:pt x="66303" y="119063"/>
                  <a:pt x="47625" y="137740"/>
                  <a:pt x="47625" y="160734"/>
                </a:cubicBezTo>
                <a:lnTo>
                  <a:pt x="47625" y="166688"/>
                </a:lnTo>
                <a:lnTo>
                  <a:pt x="95250" y="166688"/>
                </a:lnTo>
                <a:cubicBezTo>
                  <a:pt x="121518" y="166688"/>
                  <a:pt x="142875" y="188044"/>
                  <a:pt x="142875" y="214313"/>
                </a:cubicBezTo>
                <a:lnTo>
                  <a:pt x="142875" y="261938"/>
                </a:lnTo>
                <a:cubicBezTo>
                  <a:pt x="142875" y="288206"/>
                  <a:pt x="121518" y="309563"/>
                  <a:pt x="95250" y="309563"/>
                </a:cubicBezTo>
                <a:lnTo>
                  <a:pt x="47625" y="309563"/>
                </a:lnTo>
                <a:cubicBezTo>
                  <a:pt x="21357" y="309563"/>
                  <a:pt x="0" y="288206"/>
                  <a:pt x="0" y="261938"/>
                </a:cubicBezTo>
                <a:lnTo>
                  <a:pt x="0" y="160734"/>
                </a:lnTo>
                <a:close/>
                <a:moveTo>
                  <a:pt x="190500" y="160734"/>
                </a:moveTo>
                <a:cubicBezTo>
                  <a:pt x="190500" y="111398"/>
                  <a:pt x="230460" y="71438"/>
                  <a:pt x="279797" y="71438"/>
                </a:cubicBezTo>
                <a:lnTo>
                  <a:pt x="285750" y="71438"/>
                </a:lnTo>
                <a:cubicBezTo>
                  <a:pt x="298921" y="71438"/>
                  <a:pt x="309563" y="82079"/>
                  <a:pt x="309563" y="95250"/>
                </a:cubicBezTo>
                <a:cubicBezTo>
                  <a:pt x="309563" y="108421"/>
                  <a:pt x="298921" y="119063"/>
                  <a:pt x="285750" y="119063"/>
                </a:cubicBezTo>
                <a:lnTo>
                  <a:pt x="279797" y="119063"/>
                </a:lnTo>
                <a:cubicBezTo>
                  <a:pt x="256803" y="119063"/>
                  <a:pt x="238125" y="137740"/>
                  <a:pt x="238125" y="160734"/>
                </a:cubicBezTo>
                <a:lnTo>
                  <a:pt x="238125" y="166688"/>
                </a:lnTo>
                <a:lnTo>
                  <a:pt x="285750" y="166688"/>
                </a:lnTo>
                <a:cubicBezTo>
                  <a:pt x="312018" y="166688"/>
                  <a:pt x="333375" y="188044"/>
                  <a:pt x="333375" y="214313"/>
                </a:cubicBezTo>
                <a:lnTo>
                  <a:pt x="333375" y="261938"/>
                </a:lnTo>
                <a:cubicBezTo>
                  <a:pt x="333375" y="288206"/>
                  <a:pt x="312018" y="309563"/>
                  <a:pt x="285750" y="309563"/>
                </a:cubicBezTo>
                <a:lnTo>
                  <a:pt x="238125" y="309563"/>
                </a:lnTo>
                <a:cubicBezTo>
                  <a:pt x="211857" y="309563"/>
                  <a:pt x="190500" y="288206"/>
                  <a:pt x="190500" y="261938"/>
                </a:cubicBezTo>
                <a:lnTo>
                  <a:pt x="190500" y="160734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1650960" y="7213680"/>
            <a:ext cx="134614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i="1" lang="en-US" sz="18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"We built the digital equivalent of a physical team corkboard — alive, collaborative, and infinite."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39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762120" y="444600"/>
            <a:ext cx="8889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What is PinBoard?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762120" y="1270080"/>
            <a:ext cx="6730560" cy="53337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1079640" y="1460520"/>
            <a:ext cx="6095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1a1209"/>
                </a:solidFill>
                <a:latin typeface="Oranienbaum"/>
                <a:ea typeface="Oranienbaum"/>
              </a:rPr>
              <a:t>Interactive Digital Corkboard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1079640" y="2031840"/>
            <a:ext cx="6095520" cy="43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Sans"/>
                <a:ea typeface="QuattrocentoSans"/>
              </a:rPr>
              <a:t>PinBoard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is a full-stack production application featuring: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Infinite digital corkboard workspace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Create, pin, drag, and resize sticky notes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Real-time multi-user collaboration via WebSocket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Physics-inspired animations (pin pull, note fall)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Board locked by 4 corner pins — remove all to pan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Microservices architecture with Docker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7873920" y="1270080"/>
            <a:ext cx="7619760" cy="533376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8191440" y="146052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d4a76a"/>
                </a:solidFill>
                <a:latin typeface="Oranienbaum"/>
                <a:ea typeface="Oranienbaum"/>
              </a:rPr>
              <a:t>Architecture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8381880" y="2031840"/>
            <a:ext cx="1523520" cy="507600"/>
          </a:xfrm>
          <a:prstGeom prst="roundRect">
            <a:avLst>
              <a:gd name="adj" fmla="val 12000"/>
            </a:avLst>
          </a:pr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8381880" y="2031840"/>
            <a:ext cx="15235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fff8f0"/>
                </a:solidFill>
                <a:latin typeface="Liter"/>
                <a:ea typeface="Liter"/>
              </a:rPr>
              <a:t>Browser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9144000" y="2540160"/>
            <a:ext cx="360" cy="380520"/>
          </a:xfrm>
          <a:prstGeom prst="straightConnector1">
            <a:avLst/>
          </a:prstGeom>
          <a:noFill/>
          <a:ln w="25400">
            <a:solidFill>
              <a:srgbClr val="d4a76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1"/>
          <p:cNvSpPr/>
          <p:nvPr/>
        </p:nvSpPr>
        <p:spPr>
          <a:xfrm>
            <a:off x="8128080" y="2921040"/>
            <a:ext cx="2031480" cy="558360"/>
          </a:xfrm>
          <a:prstGeom prst="roundRect">
            <a:avLst>
              <a:gd name="adj" fmla="val 12000"/>
            </a:avLst>
          </a:prstGeom>
          <a:solidFill>
            <a:srgbClr val="5a3e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8128080" y="2921040"/>
            <a:ext cx="20314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NGINX Proxy :80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3"/>
          <p:cNvSpPr/>
          <p:nvPr/>
        </p:nvSpPr>
        <p:spPr>
          <a:xfrm>
            <a:off x="8636040" y="3479760"/>
            <a:ext cx="360" cy="380520"/>
          </a:xfrm>
          <a:prstGeom prst="straightConnector1">
            <a:avLst/>
          </a:prstGeom>
          <a:noFill/>
          <a:ln w="25400">
            <a:solidFill>
              <a:srgbClr val="d4a76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9651960" y="3479760"/>
            <a:ext cx="360" cy="380520"/>
          </a:xfrm>
          <a:prstGeom prst="straightConnector1">
            <a:avLst/>
          </a:prstGeom>
          <a:noFill/>
          <a:ln w="25400">
            <a:solidFill>
              <a:srgbClr val="d4a76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8636040" y="3657600"/>
            <a:ext cx="1015560" cy="360"/>
          </a:xfrm>
          <a:prstGeom prst="straightConnector1">
            <a:avLst/>
          </a:prstGeom>
          <a:noFill/>
          <a:ln w="25400">
            <a:solidFill>
              <a:srgbClr val="d4a7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6"/>
          <p:cNvSpPr/>
          <p:nvPr/>
        </p:nvSpPr>
        <p:spPr>
          <a:xfrm>
            <a:off x="8128080" y="3860640"/>
            <a:ext cx="1777680" cy="507600"/>
          </a:xfrm>
          <a:prstGeom prst="roundRect">
            <a:avLst>
              <a:gd name="adj" fmla="val 12000"/>
            </a:avLst>
          </a:prstGeom>
          <a:solidFill>
            <a:srgbClr val="4a67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8128080" y="3860640"/>
            <a:ext cx="1777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8f0"/>
                </a:solidFill>
                <a:latin typeface="Liter"/>
                <a:ea typeface="Liter"/>
              </a:rPr>
              <a:t>auth :3001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10159920" y="3860640"/>
            <a:ext cx="1777680" cy="507600"/>
          </a:xfrm>
          <a:prstGeom prst="roundRect">
            <a:avLst>
              <a:gd name="adj" fmla="val 12000"/>
            </a:avLst>
          </a:prstGeom>
          <a:solidFill>
            <a:srgbClr val="5a7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10159920" y="3860640"/>
            <a:ext cx="1777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8f0"/>
                </a:solidFill>
                <a:latin typeface="Liter"/>
                <a:ea typeface="Liter"/>
              </a:rPr>
              <a:t>board :3002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0"/>
          <p:cNvSpPr/>
          <p:nvPr/>
        </p:nvSpPr>
        <p:spPr>
          <a:xfrm>
            <a:off x="12192120" y="3860640"/>
            <a:ext cx="1777680" cy="507600"/>
          </a:xfrm>
          <a:prstGeom prst="roundRect">
            <a:avLst>
              <a:gd name="adj" fmla="val 12000"/>
            </a:avLst>
          </a:prstGeom>
          <a:solidFill>
            <a:srgbClr val="6b8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12192120" y="3860640"/>
            <a:ext cx="1777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8f0"/>
                </a:solidFill>
                <a:latin typeface="Liter"/>
                <a:ea typeface="Liter"/>
              </a:rPr>
              <a:t>realtime :3003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9651960" y="3657600"/>
            <a:ext cx="3555720" cy="360"/>
          </a:xfrm>
          <a:prstGeom prst="straightConnector1">
            <a:avLst/>
          </a:prstGeom>
          <a:noFill/>
          <a:ln w="25400">
            <a:solidFill>
              <a:srgbClr val="d4a7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13080960" y="3479760"/>
            <a:ext cx="360" cy="380520"/>
          </a:xfrm>
          <a:prstGeom prst="straightConnector1">
            <a:avLst/>
          </a:prstGeom>
          <a:noFill/>
          <a:ln w="25400">
            <a:solidFill>
              <a:srgbClr val="d4a76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4"/>
          <p:cNvSpPr/>
          <p:nvPr/>
        </p:nvSpPr>
        <p:spPr>
          <a:xfrm>
            <a:off x="9016920" y="4368960"/>
            <a:ext cx="360" cy="380520"/>
          </a:xfrm>
          <a:prstGeom prst="straightConnector1">
            <a:avLst/>
          </a:prstGeom>
          <a:noFill/>
          <a:ln w="25400">
            <a:solidFill>
              <a:srgbClr val="d4a76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25"/>
          <p:cNvSpPr/>
          <p:nvPr/>
        </p:nvSpPr>
        <p:spPr>
          <a:xfrm>
            <a:off x="11049120" y="4368960"/>
            <a:ext cx="360" cy="380520"/>
          </a:xfrm>
          <a:prstGeom prst="straightConnector1">
            <a:avLst/>
          </a:prstGeom>
          <a:noFill/>
          <a:ln w="25400">
            <a:solidFill>
              <a:srgbClr val="d4a76a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26"/>
          <p:cNvSpPr/>
          <p:nvPr/>
        </p:nvSpPr>
        <p:spPr>
          <a:xfrm>
            <a:off x="8255160" y="4749840"/>
            <a:ext cx="1523520" cy="507600"/>
          </a:xfrm>
          <a:prstGeom prst="roundRect">
            <a:avLst>
              <a:gd name="adj" fmla="val 12000"/>
            </a:avLst>
          </a:prstGeom>
          <a:solidFill>
            <a:srgbClr val="8b6d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27"/>
          <p:cNvSpPr/>
          <p:nvPr/>
        </p:nvSpPr>
        <p:spPr>
          <a:xfrm>
            <a:off x="8255160" y="4749840"/>
            <a:ext cx="15235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8f0"/>
                </a:solidFill>
                <a:latin typeface="Liter"/>
                <a:ea typeface="Liter"/>
              </a:rPr>
              <a:t>MongoDB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8"/>
          <p:cNvSpPr/>
          <p:nvPr/>
        </p:nvSpPr>
        <p:spPr>
          <a:xfrm>
            <a:off x="10414080" y="4749840"/>
            <a:ext cx="1523520" cy="507600"/>
          </a:xfrm>
          <a:prstGeom prst="roundRect">
            <a:avLst>
              <a:gd name="adj" fmla="val 12000"/>
            </a:avLst>
          </a:prstGeom>
          <a:solidFill>
            <a:srgbClr val="9b7d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9"/>
          <p:cNvSpPr/>
          <p:nvPr/>
        </p:nvSpPr>
        <p:spPr>
          <a:xfrm>
            <a:off x="10414080" y="4749840"/>
            <a:ext cx="15235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8f0"/>
                </a:solidFill>
                <a:latin typeface="Liter"/>
                <a:ea typeface="Liter"/>
              </a:rPr>
              <a:t>Redis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30"/>
          <p:cNvSpPr/>
          <p:nvPr/>
        </p:nvSpPr>
        <p:spPr>
          <a:xfrm>
            <a:off x="8381880" y="5460840"/>
            <a:ext cx="685764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/api/auth/ → auth-service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/api/boards/ → board-service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/socket.io/ → realtime-service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31"/>
          <p:cNvSpPr/>
          <p:nvPr/>
        </p:nvSpPr>
        <p:spPr>
          <a:xfrm>
            <a:off x="762120" y="6921360"/>
            <a:ext cx="14731560" cy="63468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1015920" y="6921360"/>
            <a:ext cx="142236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d4a76a"/>
                </a:solidFill>
                <a:latin typeface="Quattrocento Sans"/>
                <a:ea typeface="Quattrocento Sans"/>
              </a:rPr>
              <a:t>3</a:t>
            </a:r>
            <a:r>
              <a:rPr b="0" lang="en-US" sz="16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 Microservices · </a:t>
            </a:r>
            <a:r>
              <a:rPr b="1" lang="en-US" sz="1600" spc="-1" strike="noStrike">
                <a:solidFill>
                  <a:srgbClr val="d4a76a"/>
                </a:solidFill>
                <a:latin typeface="Quattrocento Sans"/>
                <a:ea typeface="Quattrocento Sans"/>
              </a:rPr>
              <a:t>7</a:t>
            </a:r>
            <a:r>
              <a:rPr b="0" lang="en-US" sz="16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 Docker Containers · </a:t>
            </a:r>
            <a:r>
              <a:rPr b="1" lang="en-US" sz="1600" spc="-1" strike="noStrike">
                <a:solidFill>
                  <a:srgbClr val="d4a76a"/>
                </a:solidFill>
                <a:latin typeface="Quattrocento Sans"/>
                <a:ea typeface="Quattrocento Sans"/>
              </a:rPr>
              <a:t>Socket.IO</a:t>
            </a:r>
            <a:r>
              <a:rPr b="0" lang="en-US" sz="16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 Real-time · </a:t>
            </a:r>
            <a:r>
              <a:rPr b="1" lang="en-US" sz="1600" spc="-1" strike="noStrike">
                <a:solidFill>
                  <a:srgbClr val="d4a76a"/>
                </a:solidFill>
                <a:latin typeface="Quattrocento Sans"/>
                <a:ea typeface="Quattrocento Sans"/>
              </a:rPr>
              <a:t>JWT</a:t>
            </a:r>
            <a:r>
              <a:rPr b="0" lang="en-US" sz="16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 Auth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3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74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762120" y="444600"/>
            <a:ext cx="8889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Technology Stack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762120" y="1270080"/>
            <a:ext cx="4698720" cy="55875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762120" y="1270080"/>
            <a:ext cx="4698720" cy="634680"/>
          </a:xfrm>
          <a:prstGeom prst="roundRect">
            <a:avLst>
              <a:gd name="adj" fmla="val 10000"/>
            </a:avLst>
          </a:pr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762120" y="1270080"/>
            <a:ext cx="46987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ff8f0"/>
                </a:solidFill>
                <a:latin typeface="Oranienbaum"/>
                <a:ea typeface="Oranienbaum"/>
              </a:rPr>
              <a:t>Frontend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1015920" y="2095560"/>
            <a:ext cx="41907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b8874a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React 19 + TypeScript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b8874a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Vite (build tool)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b8874a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Tailwind CSS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b8874a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Framer Motion (animations)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b8874a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Zustand (state management)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b8874a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react-rnd (drag &amp; resize)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5778360" y="1270080"/>
            <a:ext cx="4698720" cy="55875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5778360" y="1270080"/>
            <a:ext cx="4698720" cy="634680"/>
          </a:xfrm>
          <a:prstGeom prst="roundRect">
            <a:avLst>
              <a:gd name="adj" fmla="val 10000"/>
            </a:avLst>
          </a:prstGeom>
          <a:solidFill>
            <a:srgbClr val="5a3e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5778360" y="1270080"/>
            <a:ext cx="46987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ff8f0"/>
                </a:solidFill>
                <a:latin typeface="Oranienbaum"/>
                <a:ea typeface="Oranienbaum"/>
              </a:rPr>
              <a:t>Backend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6032520" y="2095560"/>
            <a:ext cx="41907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Node.js + Express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TypeScript (strict mode)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Mongoose ODM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Socket.IO 4.x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JWT + bcryptjs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ioredis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10794960" y="1270080"/>
            <a:ext cx="4698720" cy="55875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10794960" y="1270080"/>
            <a:ext cx="4698720" cy="63468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10794960" y="1270080"/>
            <a:ext cx="46987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ff8f0"/>
                </a:solidFill>
                <a:latin typeface="Oranienbaum"/>
                <a:ea typeface="Oranienbaum"/>
              </a:rPr>
              <a:t>DevOps &amp; Infrastructure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11049120" y="2095560"/>
            <a:ext cx="41907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1e1810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Docker + Docker Compose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1e1810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NGINX (reverse proxy)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1e1810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Jenkins (CI/CD pipeline)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1e1810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MongoDB 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1e1810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Redis 7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80000"/>
              </a:lnSpc>
            </a:pPr>
            <a:r>
              <a:rPr b="0" lang="en-US" sz="1600" spc="-1" strike="noStrike">
                <a:solidFill>
                  <a:srgbClr val="1e1810"/>
                </a:solidFill>
                <a:latin typeface="QuattrocentoSans"/>
                <a:ea typeface="QuattrocentoSans"/>
              </a:rPr>
              <a:t>●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Sans"/>
                <a:ea typeface="QuattrocentoSans"/>
              </a:rPr>
              <a:t>GitHub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762120" y="7112160"/>
            <a:ext cx="14731560" cy="58392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1015920" y="7112160"/>
            <a:ext cx="1422360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fff8f0"/>
                </a:solidFill>
                <a:latin typeface="Liter"/>
                <a:ea typeface="Liter"/>
              </a:rPr>
              <a:t>React · Node · MongoDB · Redis · Docker · Jenkins · NGINX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93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762120" y="444600"/>
            <a:ext cx="114296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Core Features — The Board Experience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762120" y="1270080"/>
            <a:ext cx="7238520" cy="32382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1060560" y="1460520"/>
            <a:ext cx="266400" cy="355320"/>
          </a:xfrm>
          <a:custGeom>
            <a:avLst/>
            <a:gdLst>
              <a:gd name="textAreaLeft" fmla="*/ 0 w 266400"/>
              <a:gd name="textAreaRight" fmla="*/ 266760 w 26640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266700" h="355600">
                <a:moveTo>
                  <a:pt x="22225" y="22225"/>
                </a:moveTo>
                <a:cubicBezTo>
                  <a:pt x="22225" y="9932"/>
                  <a:pt x="32157" y="0"/>
                  <a:pt x="44450" y="0"/>
                </a:cubicBezTo>
                <a:lnTo>
                  <a:pt x="222250" y="0"/>
                </a:lnTo>
                <a:cubicBezTo>
                  <a:pt x="234543" y="0"/>
                  <a:pt x="244475" y="9932"/>
                  <a:pt x="244475" y="22225"/>
                </a:cubicBezTo>
                <a:cubicBezTo>
                  <a:pt x="244475" y="34518"/>
                  <a:pt x="234543" y="44450"/>
                  <a:pt x="222250" y="44450"/>
                </a:cubicBezTo>
                <a:lnTo>
                  <a:pt x="201761" y="44450"/>
                </a:lnTo>
                <a:lnTo>
                  <a:pt x="208915" y="137587"/>
                </a:lnTo>
                <a:cubicBezTo>
                  <a:pt x="234682" y="152311"/>
                  <a:pt x="254615" y="176758"/>
                  <a:pt x="263227" y="206831"/>
                </a:cubicBezTo>
                <a:lnTo>
                  <a:pt x="265867" y="216138"/>
                </a:lnTo>
                <a:cubicBezTo>
                  <a:pt x="267811" y="222875"/>
                  <a:pt x="266422" y="230029"/>
                  <a:pt x="262255" y="235654"/>
                </a:cubicBezTo>
                <a:cubicBezTo>
                  <a:pt x="258088" y="241280"/>
                  <a:pt x="251420" y="244475"/>
                  <a:pt x="244475" y="244475"/>
                </a:cubicBezTo>
                <a:lnTo>
                  <a:pt x="22225" y="244475"/>
                </a:lnTo>
                <a:cubicBezTo>
                  <a:pt x="15280" y="244475"/>
                  <a:pt x="8682" y="241211"/>
                  <a:pt x="4514" y="235654"/>
                </a:cubicBezTo>
                <a:cubicBezTo>
                  <a:pt x="347" y="230098"/>
                  <a:pt x="-1042" y="222875"/>
                  <a:pt x="903" y="216138"/>
                </a:cubicBezTo>
                <a:lnTo>
                  <a:pt x="3473" y="206831"/>
                </a:lnTo>
                <a:cubicBezTo>
                  <a:pt x="12085" y="176758"/>
                  <a:pt x="31948" y="152311"/>
                  <a:pt x="57785" y="137587"/>
                </a:cubicBezTo>
                <a:lnTo>
                  <a:pt x="64939" y="44450"/>
                </a:lnTo>
                <a:lnTo>
                  <a:pt x="44450" y="44450"/>
                </a:lnTo>
                <a:cubicBezTo>
                  <a:pt x="32157" y="44450"/>
                  <a:pt x="22225" y="34518"/>
                  <a:pt x="22225" y="22225"/>
                </a:cubicBezTo>
                <a:close/>
                <a:moveTo>
                  <a:pt x="111125" y="277813"/>
                </a:moveTo>
                <a:lnTo>
                  <a:pt x="155575" y="277813"/>
                </a:lnTo>
                <a:lnTo>
                  <a:pt x="155575" y="355600"/>
                </a:lnTo>
                <a:cubicBezTo>
                  <a:pt x="155575" y="367893"/>
                  <a:pt x="145643" y="377825"/>
                  <a:pt x="133350" y="377825"/>
                </a:cubicBezTo>
                <a:cubicBezTo>
                  <a:pt x="121057" y="377825"/>
                  <a:pt x="111125" y="367893"/>
                  <a:pt x="111125" y="355600"/>
                </a:cubicBezTo>
                <a:lnTo>
                  <a:pt x="111125" y="277813"/>
                </a:lnTo>
                <a:close/>
              </a:path>
            </a:pathLst>
          </a:cu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1473120" y="1422360"/>
            <a:ext cx="3809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Interactive Pin System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1015920" y="1968480"/>
            <a:ext cx="673056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4 metallic corner pins lock the board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Click to pull out with spring animation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Remove all 4 → board unlocks for panning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Removed pins land in a 3D pin tray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Re-insert any pin → board locks instantly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Board stability % drops per removed pin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8255160" y="1270080"/>
            <a:ext cx="7238520" cy="32382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8531280" y="1460520"/>
            <a:ext cx="310680" cy="355320"/>
          </a:xfrm>
          <a:custGeom>
            <a:avLst/>
            <a:gdLst>
              <a:gd name="textAreaLeft" fmla="*/ 0 w 310680"/>
              <a:gd name="textAreaRight" fmla="*/ 311040 w 31068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311150" h="355600">
                <a:moveTo>
                  <a:pt x="44450" y="333375"/>
                </a:move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14957"/>
                </a:lnTo>
                <a:cubicBezTo>
                  <a:pt x="311150" y="226764"/>
                  <a:pt x="306497" y="238085"/>
                  <a:pt x="298162" y="246420"/>
                </a:cubicBezTo>
                <a:lnTo>
                  <a:pt x="224125" y="320387"/>
                </a:lnTo>
                <a:cubicBezTo>
                  <a:pt x="215791" y="328722"/>
                  <a:pt x="204470" y="333375"/>
                  <a:pt x="192663" y="333375"/>
                </a:cubicBezTo>
                <a:lnTo>
                  <a:pt x="44450" y="333375"/>
                </a:lnTo>
                <a:close/>
                <a:moveTo>
                  <a:pt x="270520" y="211138"/>
                </a:moveTo>
                <a:lnTo>
                  <a:pt x="205581" y="211138"/>
                </a:lnTo>
                <a:cubicBezTo>
                  <a:pt x="196344" y="211138"/>
                  <a:pt x="188913" y="218569"/>
                  <a:pt x="188913" y="227806"/>
                </a:cubicBezTo>
                <a:lnTo>
                  <a:pt x="188913" y="292745"/>
                </a:lnTo>
                <a:lnTo>
                  <a:pt x="270520" y="211138"/>
                </a:lnTo>
                <a:close/>
              </a:path>
            </a:pathLst>
          </a:cu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8966160" y="1422360"/>
            <a:ext cx="3809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Sticky Note System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8508960" y="1968480"/>
            <a:ext cx="673056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5 note types: Normal, Task, Reminder, Urgent, Idea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6 pastel colors with matching pin colors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Drag anywhere on 3000×2000 canvas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Resize from corners/edges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Double-click to edit with handwriting font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Folded corner effect, ruled lines, shadows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762120" y="4762440"/>
            <a:ext cx="7238520" cy="32382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1038240" y="4952880"/>
            <a:ext cx="310680" cy="355320"/>
          </a:xfrm>
          <a:custGeom>
            <a:avLst/>
            <a:gdLst>
              <a:gd name="textAreaLeft" fmla="*/ 0 w 310680"/>
              <a:gd name="textAreaRight" fmla="*/ 311040 w 31068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31115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111125"/>
                </a:lnTo>
                <a:cubicBezTo>
                  <a:pt x="0" y="123418"/>
                  <a:pt x="9932" y="133350"/>
                  <a:pt x="22225" y="133350"/>
                </a:cubicBezTo>
                <a:cubicBezTo>
                  <a:pt x="34518" y="133350"/>
                  <a:pt x="44450" y="123418"/>
                  <a:pt x="44450" y="111125"/>
                </a:cubicBezTo>
                <a:lnTo>
                  <a:pt x="44450" y="66675"/>
                </a:lnTo>
                <a:lnTo>
                  <a:pt x="88900" y="66675"/>
                </a:lnTo>
                <a:cubicBezTo>
                  <a:pt x="101193" y="66675"/>
                  <a:pt x="111125" y="56743"/>
                  <a:pt x="111125" y="44450"/>
                </a:cubicBezTo>
                <a:cubicBezTo>
                  <a:pt x="111125" y="32157"/>
                  <a:pt x="101193" y="22225"/>
                  <a:pt x="88900" y="22225"/>
                </a:cubicBezTo>
                <a:lnTo>
                  <a:pt x="22225" y="22225"/>
                </a:lnTo>
                <a:close/>
                <a:moveTo>
                  <a:pt x="44450" y="244475"/>
                </a:moveTo>
                <a:cubicBezTo>
                  <a:pt x="44450" y="232182"/>
                  <a:pt x="34518" y="222250"/>
                  <a:pt x="22225" y="222250"/>
                </a:cubicBezTo>
                <a:cubicBezTo>
                  <a:pt x="9932" y="222250"/>
                  <a:pt x="0" y="232182"/>
                  <a:pt x="0" y="244475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8900" y="333375"/>
                </a:lnTo>
                <a:cubicBezTo>
                  <a:pt x="101193" y="333375"/>
                  <a:pt x="111125" y="323443"/>
                  <a:pt x="111125" y="311150"/>
                </a:cubicBezTo>
                <a:cubicBezTo>
                  <a:pt x="111125" y="298857"/>
                  <a:pt x="101193" y="288925"/>
                  <a:pt x="88900" y="288925"/>
                </a:cubicBez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222250" y="22225"/>
                </a:moveTo>
                <a:cubicBezTo>
                  <a:pt x="209957" y="22225"/>
                  <a:pt x="200025" y="32157"/>
                  <a:pt x="200025" y="44450"/>
                </a:cubicBezTo>
                <a:cubicBezTo>
                  <a:pt x="200025" y="56743"/>
                  <a:pt x="209957" y="66675"/>
                  <a:pt x="222250" y="66675"/>
                </a:cubicBezTo>
                <a:lnTo>
                  <a:pt x="266700" y="66675"/>
                </a:lnTo>
                <a:lnTo>
                  <a:pt x="266700" y="111125"/>
                </a:lnTo>
                <a:cubicBezTo>
                  <a:pt x="266700" y="123418"/>
                  <a:pt x="276632" y="133350"/>
                  <a:pt x="288925" y="133350"/>
                </a:cubicBezTo>
                <a:cubicBezTo>
                  <a:pt x="301218" y="133350"/>
                  <a:pt x="311150" y="123418"/>
                  <a:pt x="311150" y="111125"/>
                </a:cubicBezTo>
                <a:lnTo>
                  <a:pt x="311150" y="44450"/>
                </a:lnTo>
                <a:cubicBezTo>
                  <a:pt x="311150" y="32157"/>
                  <a:pt x="301218" y="22225"/>
                  <a:pt x="288925" y="22225"/>
                </a:cubicBezTo>
                <a:lnTo>
                  <a:pt x="222250" y="22225"/>
                </a:lnTo>
                <a:close/>
                <a:moveTo>
                  <a:pt x="311150" y="244475"/>
                </a:moveTo>
                <a:cubicBezTo>
                  <a:pt x="311150" y="232182"/>
                  <a:pt x="301218" y="222250"/>
                  <a:pt x="288925" y="222250"/>
                </a:cubicBezTo>
                <a:cubicBezTo>
                  <a:pt x="276632" y="222250"/>
                  <a:pt x="266700" y="232182"/>
                  <a:pt x="266700" y="244475"/>
                </a:cubicBezTo>
                <a:lnTo>
                  <a:pt x="266700" y="288925"/>
                </a:lnTo>
                <a:lnTo>
                  <a:pt x="222250" y="288925"/>
                </a:lnTo>
                <a:cubicBezTo>
                  <a:pt x="209957" y="288925"/>
                  <a:pt x="200025" y="298857"/>
                  <a:pt x="200025" y="311150"/>
                </a:cubicBezTo>
                <a:cubicBezTo>
                  <a:pt x="200025" y="323443"/>
                  <a:pt x="209957" y="333375"/>
                  <a:pt x="222250" y="333375"/>
                </a:cubicBezTo>
                <a:lnTo>
                  <a:pt x="288925" y="333375"/>
                </a:lnTo>
                <a:cubicBezTo>
                  <a:pt x="301218" y="333375"/>
                  <a:pt x="311150" y="323443"/>
                  <a:pt x="311150" y="311150"/>
                </a:cubicBezTo>
                <a:lnTo>
                  <a:pt x="311150" y="244475"/>
                </a:lnTo>
                <a:close/>
              </a:path>
            </a:pathLst>
          </a:cu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1473120" y="4915080"/>
            <a:ext cx="3809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Infinite Canvas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1015920" y="5460840"/>
            <a:ext cx="673056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Smooth pan (mouse drag when unlocked)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Pinch-to-zoom / scroll wheel zoom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Zoom range: 20% to 300%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Zoom dial shows live percentage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Viewport position persisted to database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Board wobble animation when pins removed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5"/>
          <p:cNvSpPr/>
          <p:nvPr/>
        </p:nvSpPr>
        <p:spPr>
          <a:xfrm>
            <a:off x="8255160" y="4762440"/>
            <a:ext cx="7238520" cy="32382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8508960" y="4952880"/>
            <a:ext cx="355320" cy="355320"/>
          </a:xfrm>
          <a:custGeom>
            <a:avLst/>
            <a:gdLst>
              <a:gd name="textAreaLeft" fmla="*/ 0 w 355320"/>
              <a:gd name="textAreaRight" fmla="*/ 355680 w 35532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355600" h="355600">
                <a:moveTo>
                  <a:pt x="355600" y="177800"/>
                </a:moveTo>
                <a:cubicBezTo>
                  <a:pt x="355600" y="178425"/>
                  <a:pt x="355600" y="179050"/>
                  <a:pt x="355600" y="179675"/>
                </a:cubicBezTo>
                <a:cubicBezTo>
                  <a:pt x="355322" y="205026"/>
                  <a:pt x="332264" y="222250"/>
                  <a:pt x="306913" y="222250"/>
                </a:cubicBezTo>
                <a:lnTo>
                  <a:pt x="238919" y="222250"/>
                </a:lnTo>
                <a:cubicBezTo>
                  <a:pt x="220514" y="222250"/>
                  <a:pt x="205581" y="237182"/>
                  <a:pt x="205581" y="255587"/>
                </a:cubicBezTo>
                <a:cubicBezTo>
                  <a:pt x="205581" y="257949"/>
                  <a:pt x="205859" y="260241"/>
                  <a:pt x="206276" y="262463"/>
                </a:cubicBezTo>
                <a:cubicBezTo>
                  <a:pt x="207734" y="269548"/>
                  <a:pt x="210790" y="276354"/>
                  <a:pt x="213777" y="283230"/>
                </a:cubicBezTo>
                <a:cubicBezTo>
                  <a:pt x="218013" y="292814"/>
                  <a:pt x="222181" y="302329"/>
                  <a:pt x="222181" y="312400"/>
                </a:cubicBezTo>
                <a:cubicBezTo>
                  <a:pt x="222181" y="334486"/>
                  <a:pt x="207179" y="354558"/>
                  <a:pt x="185093" y="355461"/>
                </a:cubicBezTo>
                <a:cubicBezTo>
                  <a:pt x="182662" y="355531"/>
                  <a:pt x="180231" y="355600"/>
                  <a:pt x="177731" y="355600"/>
                </a:cubicBezTo>
                <a:cubicBezTo>
                  <a:pt x="79524" y="355600"/>
                  <a:pt x="-69" y="276007"/>
                  <a:pt x="-69" y="177800"/>
                </a:cubicBezTo>
                <a:cubicBezTo>
                  <a:pt x="-69" y="79593"/>
                  <a:pt x="79593" y="0"/>
                  <a:pt x="177800" y="0"/>
                </a:cubicBezTo>
                <a:cubicBezTo>
                  <a:pt x="276007" y="0"/>
                  <a:pt x="355600" y="79593"/>
                  <a:pt x="355600" y="177800"/>
                </a:cubicBezTo>
                <a:close/>
                <a:moveTo>
                  <a:pt x="88900" y="200025"/>
                </a:moveTo>
                <a:cubicBezTo>
                  <a:pt x="88900" y="187759"/>
                  <a:pt x="78941" y="177800"/>
                  <a:pt x="66675" y="177800"/>
                </a:cubicBezTo>
                <a:cubicBezTo>
                  <a:pt x="54409" y="177800"/>
                  <a:pt x="44450" y="187759"/>
                  <a:pt x="44450" y="200025"/>
                </a:cubicBezTo>
                <a:cubicBezTo>
                  <a:pt x="44450" y="212291"/>
                  <a:pt x="54409" y="222250"/>
                  <a:pt x="66675" y="222250"/>
                </a:cubicBezTo>
                <a:cubicBezTo>
                  <a:pt x="78941" y="222250"/>
                  <a:pt x="88900" y="212291"/>
                  <a:pt x="88900" y="200025"/>
                </a:cubicBezTo>
                <a:close/>
                <a:moveTo>
                  <a:pt x="88900" y="133350"/>
                </a:moveTo>
                <a:cubicBezTo>
                  <a:pt x="101166" y="133350"/>
                  <a:pt x="111125" y="123391"/>
                  <a:pt x="111125" y="111125"/>
                </a:cubicBezTo>
                <a:cubicBezTo>
                  <a:pt x="111125" y="98859"/>
                  <a:pt x="101166" y="88900"/>
                  <a:pt x="88900" y="88900"/>
                </a:cubicBezTo>
                <a:cubicBezTo>
                  <a:pt x="76634" y="88900"/>
                  <a:pt x="66675" y="98859"/>
                  <a:pt x="66675" y="111125"/>
                </a:cubicBezTo>
                <a:cubicBezTo>
                  <a:pt x="66675" y="123391"/>
                  <a:pt x="76634" y="133350"/>
                  <a:pt x="88900" y="13335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266700" y="133350"/>
                </a:moveTo>
                <a:cubicBezTo>
                  <a:pt x="278966" y="133350"/>
                  <a:pt x="288925" y="123391"/>
                  <a:pt x="288925" y="111125"/>
                </a:cubicBezTo>
                <a:cubicBezTo>
                  <a:pt x="288925" y="98859"/>
                  <a:pt x="278966" y="88900"/>
                  <a:pt x="266700" y="88900"/>
                </a:cubicBezTo>
                <a:cubicBezTo>
                  <a:pt x="254434" y="88900"/>
                  <a:pt x="244475" y="98859"/>
                  <a:pt x="244475" y="111125"/>
                </a:cubicBezTo>
                <a:cubicBezTo>
                  <a:pt x="244475" y="123391"/>
                  <a:pt x="254434" y="133350"/>
                  <a:pt x="266700" y="133350"/>
                </a:cubicBezTo>
                <a:close/>
              </a:path>
            </a:pathLst>
          </a:cu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8966160" y="4915080"/>
            <a:ext cx="3809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Note Customization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8508960" y="5460840"/>
            <a:ext cx="673056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Color picker in hover toolbar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Duplicate note in one click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Task notes with inline checklist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Reminder notes with date/time picker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Bring-to-front on click (z-index)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5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•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5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Archive instead of hard delete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114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762120" y="444600"/>
            <a:ext cx="114296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Core Features — Collaboration &amp; Productivity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762120" y="1270080"/>
            <a:ext cx="7238520" cy="6921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971640" y="1460520"/>
            <a:ext cx="444240" cy="355320"/>
          </a:xfrm>
          <a:custGeom>
            <a:avLst/>
            <a:gdLst>
              <a:gd name="textAreaLeft" fmla="*/ 0 w 444240"/>
              <a:gd name="textAreaRight" fmla="*/ 444600 w 44424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1473120" y="1422360"/>
            <a:ext cx="50796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1a1209"/>
                </a:solidFill>
                <a:latin typeface="Oranienbaum"/>
                <a:ea typeface="Oranienbaum"/>
              </a:rPr>
              <a:t>Real-Time Collaboration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1015920" y="2031840"/>
            <a:ext cx="6730560" cy="59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Socket.IO WebSocket rooms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per board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Any change syncs instantly to all users: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601"/>
              </a:spcBef>
            </a:pPr>
            <a:r>
              <a:rPr b="0" lang="en-US" sz="16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Note created / moved / edited / deleted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Board lock/unlock state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</a:pPr>
            <a:r>
              <a:rPr b="0" lang="en-US" sz="16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Cursor positions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199"/>
              </a:spcBef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Collab modal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with shareable board link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Live presence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collaborator avatars top-right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Live cursors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with name chips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Join via URL: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Liter"/>
                <a:ea typeface="Liter"/>
              </a:rPr>
              <a:t>/board?id=BOARD_ID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No refresh needed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fully live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8255160" y="1270080"/>
            <a:ext cx="7238520" cy="6921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8"/>
          <p:cNvSpPr/>
          <p:nvPr/>
        </p:nvSpPr>
        <p:spPr>
          <a:xfrm>
            <a:off x="8486640" y="1460520"/>
            <a:ext cx="399600" cy="355320"/>
          </a:xfrm>
          <a:custGeom>
            <a:avLst/>
            <a:gdLst>
              <a:gd name="textAreaLeft" fmla="*/ 0 w 399600"/>
              <a:gd name="textAreaRight" fmla="*/ 399960 w 399600"/>
              <a:gd name="textAreaTop" fmla="*/ 0 h 355320"/>
              <a:gd name="textAreaBottom" fmla="*/ 355680 h 355320"/>
            </a:gdLst>
            <a:ahLst/>
            <a:rect l="textAreaLeft" t="textAreaTop" r="textAreaRight" b="textAreaBottom"/>
            <a:pathLst>
              <a:path w="400050" h="355600">
                <a:moveTo>
                  <a:pt x="353794" y="68481"/>
                </a:moveTo>
                <a:cubicBezTo>
                  <a:pt x="359073" y="63202"/>
                  <a:pt x="367893" y="64522"/>
                  <a:pt x="370532" y="71467"/>
                </a:cubicBezTo>
                <a:cubicBezTo>
                  <a:pt x="375255" y="83760"/>
                  <a:pt x="377825" y="97165"/>
                  <a:pt x="377825" y="111125"/>
                </a:cubicBezTo>
                <a:cubicBezTo>
                  <a:pt x="377825" y="172522"/>
                  <a:pt x="328097" y="222250"/>
                  <a:pt x="266700" y="222250"/>
                </a:cubicBezTo>
                <a:cubicBezTo>
                  <a:pt x="254546" y="222250"/>
                  <a:pt x="242808" y="220305"/>
                  <a:pt x="231835" y="216694"/>
                </a:cubicBezTo>
                <a:lnTo>
                  <a:pt x="102027" y="346502"/>
                </a:lnTo>
                <a:cubicBezTo>
                  <a:pt x="82510" y="366018"/>
                  <a:pt x="50840" y="366018"/>
                  <a:pt x="31323" y="346502"/>
                </a:cubicBezTo>
                <a:cubicBezTo>
                  <a:pt x="11807" y="326985"/>
                  <a:pt x="11807" y="295315"/>
                  <a:pt x="31323" y="275798"/>
                </a:cubicBezTo>
                <a:lnTo>
                  <a:pt x="161131" y="145990"/>
                </a:lnTo>
                <a:cubicBezTo>
                  <a:pt x="157520" y="135017"/>
                  <a:pt x="155575" y="123349"/>
                  <a:pt x="155575" y="111125"/>
                </a:cubicBezTo>
                <a:cubicBezTo>
                  <a:pt x="155575" y="49728"/>
                  <a:pt x="205303" y="0"/>
                  <a:pt x="266700" y="0"/>
                </a:cubicBezTo>
                <a:cubicBezTo>
                  <a:pt x="280660" y="0"/>
                  <a:pt x="294065" y="2570"/>
                  <a:pt x="306358" y="7293"/>
                </a:cubicBezTo>
                <a:cubicBezTo>
                  <a:pt x="313303" y="9932"/>
                  <a:pt x="314553" y="18752"/>
                  <a:pt x="309344" y="24031"/>
                </a:cubicBezTo>
                <a:lnTo>
                  <a:pt x="247739" y="85636"/>
                </a:lnTo>
                <a:cubicBezTo>
                  <a:pt x="245656" y="87719"/>
                  <a:pt x="244475" y="90567"/>
                  <a:pt x="244475" y="93484"/>
                </a:cubicBezTo>
                <a:lnTo>
                  <a:pt x="244475" y="122238"/>
                </a:lnTo>
                <a:cubicBezTo>
                  <a:pt x="244475" y="128349"/>
                  <a:pt x="249476" y="133350"/>
                  <a:pt x="255588" y="133350"/>
                </a:cubicBezTo>
                <a:lnTo>
                  <a:pt x="284341" y="133350"/>
                </a:lnTo>
                <a:cubicBezTo>
                  <a:pt x="287258" y="133350"/>
                  <a:pt x="290106" y="132169"/>
                  <a:pt x="292189" y="130086"/>
                </a:cubicBezTo>
                <a:lnTo>
                  <a:pt x="353794" y="68481"/>
                </a:lnTo>
                <a:close/>
              </a:path>
            </a:pathLst>
          </a:cu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8966160" y="1422360"/>
            <a:ext cx="50796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1a1209"/>
                </a:solidFill>
                <a:latin typeface="Oranienbaum"/>
                <a:ea typeface="Oranienbaum"/>
              </a:rPr>
              <a:t>Productivity Tools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8508960" y="2031840"/>
            <a:ext cx="6730560" cy="59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5000"/>
              </a:lnSpc>
            </a:pPr>
            <a:r>
              <a:rPr b="0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🔍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Search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full-text + filter by type/color, Cmd+K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📋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Templates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4 presets: Brainstorm, Sprint Board, Study Planner, Retrospective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🗺️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Note Map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visual minimap of all notes, click to jump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🗂️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Archive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restore deleted notes from slide-in drawer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🔔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Reminders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browser notifications when due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🗑️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Clear Board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archive all notes with confirmation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5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📊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Board Stability</a:t>
            </a:r>
            <a:r>
              <a:rPr b="0" lang="en-US" sz="16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— live widget showing stability %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127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762120" y="444600"/>
            <a:ext cx="8889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Microservice Architecture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762120" y="1270080"/>
            <a:ext cx="4698720" cy="59688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762120" y="1270080"/>
            <a:ext cx="4698720" cy="583920"/>
          </a:xfrm>
          <a:prstGeom prst="roundRect">
            <a:avLst>
              <a:gd name="adj" fmla="val 10000"/>
            </a:avLst>
          </a:prstGeom>
          <a:solidFill>
            <a:srgbClr val="4a67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762120" y="1270080"/>
            <a:ext cx="469872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ff8f0"/>
                </a:solidFill>
                <a:latin typeface="Oranienbaum"/>
                <a:ea typeface="Oranienbaum"/>
              </a:rPr>
              <a:t>🔐 </a:t>
            </a:r>
            <a:r>
              <a:rPr b="0" lang="en-US" sz="1600" spc="-1" strike="noStrike">
                <a:solidFill>
                  <a:srgbClr val="fff8f0"/>
                </a:solidFill>
                <a:latin typeface="Oranienbaum"/>
                <a:ea typeface="Oranienbaum"/>
              </a:rPr>
              <a:t>auth-service (Port 3001)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990720" y="2006640"/>
            <a:ext cx="4241520" cy="25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</a:pPr>
            <a:r>
              <a:rPr b="1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Responsibilities: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User registration &amp; login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JWT token generation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Password hashing (bcryptjs)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/health endpoint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MongoDB: pinboard-auth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952560" y="4699080"/>
            <a:ext cx="4317480" cy="2349000"/>
          </a:xfrm>
          <a:prstGeom prst="roundRect">
            <a:avLst>
              <a:gd name="adj" fmla="val 6000"/>
            </a:avLst>
          </a:prstGeom>
          <a:solidFill>
            <a:srgbClr val="1e18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1079640" y="4800600"/>
            <a:ext cx="406368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POST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/api/auth/register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POST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/api/auth/login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GET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/api/auth/me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POST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/api/auth/logout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5778360" y="1270080"/>
            <a:ext cx="4698720" cy="59688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5778360" y="1270080"/>
            <a:ext cx="4698720" cy="583920"/>
          </a:xfrm>
          <a:prstGeom prst="roundRect">
            <a:avLst>
              <a:gd name="adj" fmla="val 10000"/>
            </a:avLst>
          </a:prstGeom>
          <a:solidFill>
            <a:srgbClr val="5a7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778360" y="1270080"/>
            <a:ext cx="469872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ff8f0"/>
                </a:solidFill>
                <a:latin typeface="Oranienbaum"/>
                <a:ea typeface="Oranienbaum"/>
              </a:rPr>
              <a:t>📋 </a:t>
            </a:r>
            <a:r>
              <a:rPr b="0" lang="en-US" sz="1600" spc="-1" strike="noStrike">
                <a:solidFill>
                  <a:srgbClr val="fff8f0"/>
                </a:solidFill>
                <a:latin typeface="Oranienbaum"/>
                <a:ea typeface="Oranienbaum"/>
              </a:rPr>
              <a:t>board-service (Port 3002)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6006960" y="2006640"/>
            <a:ext cx="4241520" cy="25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</a:pPr>
            <a:r>
              <a:rPr b="1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Responsibilities: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Board CRUD operations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Note CRUD + duplicate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Position &amp; z-index mgmt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Full-text search &amp; filter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Archive, restore, viewport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5969160" y="4699080"/>
            <a:ext cx="4317480" cy="2349000"/>
          </a:xfrm>
          <a:prstGeom prst="roundRect">
            <a:avLst>
              <a:gd name="adj" fmla="val 6000"/>
            </a:avLst>
          </a:prstGeom>
          <a:solidFill>
            <a:srgbClr val="1e18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6095880" y="4800600"/>
            <a:ext cx="406368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GET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/api/boards/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POST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/api/boards/:id/notes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PATCH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/boards/:id/notes/pos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GET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/api/boards/:id/search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10794960" y="1270080"/>
            <a:ext cx="4698720" cy="59688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6"/>
          <p:cNvSpPr/>
          <p:nvPr/>
        </p:nvSpPr>
        <p:spPr>
          <a:xfrm>
            <a:off x="10794960" y="1270080"/>
            <a:ext cx="4698720" cy="583920"/>
          </a:xfrm>
          <a:prstGeom prst="roundRect">
            <a:avLst>
              <a:gd name="adj" fmla="val 10000"/>
            </a:avLst>
          </a:prstGeom>
          <a:solidFill>
            <a:srgbClr val="6b8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10794960" y="1270080"/>
            <a:ext cx="469872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ff8f0"/>
                </a:solidFill>
                <a:latin typeface="Oranienbaum"/>
                <a:ea typeface="Oranienbaum"/>
              </a:rPr>
              <a:t>⚡ </a:t>
            </a:r>
            <a:r>
              <a:rPr b="0" lang="en-US" sz="1600" spc="-1" strike="noStrike">
                <a:solidFill>
                  <a:srgbClr val="fff8f0"/>
                </a:solidFill>
                <a:latin typeface="Oranienbaum"/>
                <a:ea typeface="Oranienbaum"/>
              </a:rPr>
              <a:t>realtime-service (Port 3003)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11023560" y="2006640"/>
            <a:ext cx="4241520" cy="25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0000"/>
              </a:lnSpc>
            </a:pPr>
            <a:r>
              <a:rPr b="1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Responsibilities: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Socket.IO server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Board rooms management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Broadcasting note events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Cursor position sync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60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User presence &amp; reconnect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10985400" y="4699080"/>
            <a:ext cx="4317480" cy="2349000"/>
          </a:xfrm>
          <a:prstGeom prst="roundRect">
            <a:avLst>
              <a:gd name="adj" fmla="val 6000"/>
            </a:avLst>
          </a:prstGeom>
          <a:solidFill>
            <a:srgbClr val="1e18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11112480" y="4800600"/>
            <a:ext cx="4063680" cy="21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emit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board:join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emit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note:created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emit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note:moved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70000"/>
              </a:lnSpc>
            </a:pPr>
            <a:r>
              <a:rPr b="0" lang="en-US" sz="1200" spc="-1" strike="noStrike">
                <a:solidFill>
                  <a:srgbClr val="d4a76a"/>
                </a:solidFill>
                <a:latin typeface="Liter"/>
                <a:ea typeface="Liter"/>
              </a:rPr>
              <a:t>emit</a:t>
            </a: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 cursor:move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762120" y="7429680"/>
            <a:ext cx="14731560" cy="431280"/>
          </a:xfrm>
          <a:prstGeom prst="roundRect">
            <a:avLst>
              <a:gd name="adj" fmla="val 10000"/>
            </a:avLst>
          </a:prstGeom>
          <a:solidFill>
            <a:srgbClr val="d4a76a">
              <a:alpha val="13000"/>
            </a:srgbClr>
          </a:solidFill>
          <a:ln w="12700">
            <a:solidFill>
              <a:srgbClr val="d4a7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2"/>
          <p:cNvSpPr/>
          <p:nvPr/>
        </p:nvSpPr>
        <p:spPr>
          <a:xfrm>
            <a:off x="1015920" y="7429680"/>
            <a:ext cx="142236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All 3 services communicate through NGINX. Inter-service auth uses shared JWT_SECRET — no network calls.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152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762120" y="444600"/>
            <a:ext cx="101595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DevOps — Docker &amp; Jenkins CI/CD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762120" y="1206360"/>
            <a:ext cx="3809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ff8f0"/>
                </a:solidFill>
                <a:latin typeface="Oranienbaum"/>
                <a:ea typeface="Oranienbaum"/>
              </a:rPr>
              <a:t>Docker Architecture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6" name="Table 0"/>
          <p:cNvGraphicFramePr/>
          <p:nvPr/>
        </p:nvGraphicFramePr>
        <p:xfrm>
          <a:off x="762120" y="1778040"/>
          <a:ext cx="7111800" cy="4190760"/>
        </p:xfrm>
        <a:graphic>
          <a:graphicData uri="http://schemas.openxmlformats.org/drawingml/2006/table">
            <a:tbl>
              <a:tblPr/>
              <a:tblGrid>
                <a:gridCol w="2275560"/>
                <a:gridCol w="2702520"/>
                <a:gridCol w="2133360"/>
              </a:tblGrid>
              <a:tr h="5238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8f0"/>
                          </a:solidFill>
                          <a:latin typeface="QuattrocentoSans"/>
                          <a:ea typeface="QuattrocentoSans"/>
                        </a:rPr>
                        <a:t>Container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1e1810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8f0"/>
                          </a:solidFill>
                          <a:latin typeface="QuattrocentoSans"/>
                          <a:ea typeface="QuattrocentoSans"/>
                        </a:rPr>
                        <a:t>Image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1e1810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8f0"/>
                          </a:solidFill>
                          <a:latin typeface="QuattrocentoSans"/>
                          <a:ea typeface="QuattrocentoSans"/>
                        </a:rPr>
                        <a:t>Type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1e1810"/>
                    </a:solidFill>
                  </a:tcPr>
                </a:tc>
              </a:tr>
              <a:tr h="5238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nginx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nginx:1.27-alpine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d4a76a"/>
                          </a:solidFill>
                          <a:latin typeface="QuattrocentoSans"/>
                          <a:ea typeface="QuattrocentoSans"/>
                        </a:rPr>
                        <a:t>Docker Hub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frontend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pinboard/frontend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6b8f5e"/>
                          </a:solidFill>
                          <a:latin typeface="QuattrocentoSans"/>
                          <a:ea typeface="QuattrocentoSans"/>
                        </a:rPr>
                        <a:t>Custom Build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</a:tr>
              <a:tr h="5238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auth-service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pinboard/auth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6b8f5e"/>
                          </a:solidFill>
                          <a:latin typeface="QuattrocentoSans"/>
                          <a:ea typeface="QuattrocentoSans"/>
                        </a:rPr>
                        <a:t>Custom Build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board-service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pinboard/board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6b8f5e"/>
                          </a:solidFill>
                          <a:latin typeface="QuattrocentoSans"/>
                          <a:ea typeface="QuattrocentoSans"/>
                        </a:rPr>
                        <a:t>Custom Build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</a:tr>
              <a:tr h="5238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realtime-service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pinboard/realtime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6b8f5e"/>
                          </a:solidFill>
                          <a:latin typeface="QuattrocentoSans"/>
                          <a:ea typeface="QuattrocentoSans"/>
                        </a:rPr>
                        <a:t>Custom Build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mongo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mongo:7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d4a76a"/>
                          </a:solidFill>
                          <a:latin typeface="QuattrocentoSans"/>
                          <a:ea typeface="QuattrocentoSans"/>
                        </a:rPr>
                        <a:t>Docker Hub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8f0"/>
                    </a:solidFill>
                  </a:tcPr>
                </a:tc>
              </a:tr>
              <a:tr h="523800"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redis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a1209"/>
                          </a:solidFill>
                          <a:latin typeface="QuattrocentoSans"/>
                          <a:ea typeface="QuattrocentoSans"/>
                        </a:rPr>
                        <a:t>redis:7-alpine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d4a76a"/>
                          </a:solidFill>
                          <a:latin typeface="QuattrocentoSans"/>
                          <a:ea typeface="QuattrocentoSans"/>
                        </a:rPr>
                        <a:t>Docker Hub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5a3e1b"/>
                      </a:solidFill>
                      <a:prstDash val="solid"/>
                    </a:lnL>
                    <a:lnR w="12240">
                      <a:solidFill>
                        <a:srgbClr val="5a3e1b"/>
                      </a:solidFill>
                      <a:prstDash val="solid"/>
                    </a:lnR>
                    <a:lnT w="12240">
                      <a:solidFill>
                        <a:srgbClr val="5a3e1b"/>
                      </a:solidFill>
                      <a:prstDash val="solid"/>
                    </a:lnT>
                    <a:lnB w="12240">
                      <a:solidFill>
                        <a:srgbClr val="5a3e1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7" name="Text 4"/>
          <p:cNvSpPr/>
          <p:nvPr/>
        </p:nvSpPr>
        <p:spPr>
          <a:xfrm>
            <a:off x="762120" y="6095880"/>
            <a:ext cx="7111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4</a:t>
            </a:r>
            <a:r>
              <a:rPr b="0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 Custom Images · </a:t>
            </a:r>
            <a:r>
              <a:rPr b="1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3</a:t>
            </a:r>
            <a:r>
              <a:rPr b="0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 Docker Hub · Named Volumes · Health Checks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8381880" y="1206360"/>
            <a:ext cx="3809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ff8f0"/>
                </a:solidFill>
                <a:latin typeface="Oranienbaum"/>
                <a:ea typeface="Oranienbaum"/>
              </a:rPr>
              <a:t>Jenkins Pipeline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8381880" y="1778040"/>
            <a:ext cx="7111800" cy="419076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8636040" y="2031840"/>
            <a:ext cx="1396800" cy="634680"/>
          </a:xfrm>
          <a:prstGeom prst="roundRect">
            <a:avLst>
              <a:gd name="adj" fmla="val 12000"/>
            </a:avLst>
          </a:pr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8636040" y="2031840"/>
            <a:ext cx="1396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1. Checkout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10032840" y="2349360"/>
            <a:ext cx="317160" cy="360"/>
          </a:xfrm>
          <a:prstGeom prst="straightConnector1">
            <a:avLst/>
          </a:prstGeom>
          <a:noFill/>
          <a:ln w="25400">
            <a:solidFill>
              <a:srgbClr val="5a3e1b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10350360" y="2031840"/>
            <a:ext cx="1396800" cy="634680"/>
          </a:xfrm>
          <a:prstGeom prst="roundRect">
            <a:avLst>
              <a:gd name="adj" fmla="val 12000"/>
            </a:avLst>
          </a:pr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10350360" y="2031840"/>
            <a:ext cx="1396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2. Install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11747520" y="2349360"/>
            <a:ext cx="317160" cy="360"/>
          </a:xfrm>
          <a:prstGeom prst="straightConnector1">
            <a:avLst/>
          </a:prstGeom>
          <a:noFill/>
          <a:ln w="25400">
            <a:solidFill>
              <a:srgbClr val="5a3e1b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12065040" y="2031840"/>
            <a:ext cx="1523520" cy="634680"/>
          </a:xfrm>
          <a:prstGeom prst="roundRect">
            <a:avLst>
              <a:gd name="adj" fmla="val 12000"/>
            </a:avLst>
          </a:pr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12065040" y="2031840"/>
            <a:ext cx="15235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3. Typecheck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5"/>
          <p:cNvSpPr/>
          <p:nvPr/>
        </p:nvSpPr>
        <p:spPr>
          <a:xfrm>
            <a:off x="13588920" y="2349360"/>
            <a:ext cx="317160" cy="360"/>
          </a:xfrm>
          <a:prstGeom prst="straightConnector1">
            <a:avLst/>
          </a:prstGeom>
          <a:noFill/>
          <a:ln w="25400">
            <a:solidFill>
              <a:srgbClr val="5a3e1b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13906440" y="2031840"/>
            <a:ext cx="1396800" cy="634680"/>
          </a:xfrm>
          <a:prstGeom prst="roundRect">
            <a:avLst>
              <a:gd name="adj" fmla="val 12000"/>
            </a:avLst>
          </a:prstGeom>
          <a:solidFill>
            <a:srgbClr val="b887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13906440" y="2031840"/>
            <a:ext cx="1396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4. Build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8"/>
          <p:cNvSpPr/>
          <p:nvPr/>
        </p:nvSpPr>
        <p:spPr>
          <a:xfrm>
            <a:off x="14604840" y="2666880"/>
            <a:ext cx="360" cy="380520"/>
          </a:xfrm>
          <a:prstGeom prst="straightConnector1">
            <a:avLst/>
          </a:prstGeom>
          <a:noFill/>
          <a:ln w="25400">
            <a:solidFill>
              <a:srgbClr val="5a3e1b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9"/>
          <p:cNvSpPr/>
          <p:nvPr/>
        </p:nvSpPr>
        <p:spPr>
          <a:xfrm>
            <a:off x="13906440" y="3048120"/>
            <a:ext cx="1396800" cy="634680"/>
          </a:xfrm>
          <a:prstGeom prst="roundRect">
            <a:avLst>
              <a:gd name="adj" fmla="val 12000"/>
            </a:avLst>
          </a:prstGeom>
          <a:solidFill>
            <a:srgbClr val="5a3e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13906440" y="3048120"/>
            <a:ext cx="1396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8f0"/>
                </a:solidFill>
                <a:latin typeface="Liter"/>
                <a:ea typeface="Liter"/>
              </a:rPr>
              <a:t>5. Docker Build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21"/>
          <p:cNvSpPr/>
          <p:nvPr/>
        </p:nvSpPr>
        <p:spPr>
          <a:xfrm>
            <a:off x="13588920" y="3365640"/>
            <a:ext cx="317160" cy="360"/>
          </a:xfrm>
          <a:prstGeom prst="straightConnector1">
            <a:avLst/>
          </a:prstGeom>
          <a:noFill/>
          <a:ln w="25400">
            <a:solidFill>
              <a:srgbClr val="5a3e1b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2"/>
          <p:cNvSpPr/>
          <p:nvPr/>
        </p:nvSpPr>
        <p:spPr>
          <a:xfrm>
            <a:off x="12065040" y="3048120"/>
            <a:ext cx="1523520" cy="634680"/>
          </a:xfrm>
          <a:prstGeom prst="roundRect">
            <a:avLst>
              <a:gd name="adj" fmla="val 12000"/>
            </a:avLst>
          </a:prstGeom>
          <a:solidFill>
            <a:srgbClr val="5a3e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23"/>
          <p:cNvSpPr/>
          <p:nvPr/>
        </p:nvSpPr>
        <p:spPr>
          <a:xfrm>
            <a:off x="12065040" y="3048120"/>
            <a:ext cx="15235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8f0"/>
                </a:solidFill>
                <a:latin typeface="Liter"/>
                <a:ea typeface="Liter"/>
              </a:rPr>
              <a:t>6. Docker Push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4"/>
          <p:cNvSpPr/>
          <p:nvPr/>
        </p:nvSpPr>
        <p:spPr>
          <a:xfrm>
            <a:off x="11747520" y="3365640"/>
            <a:ext cx="317160" cy="360"/>
          </a:xfrm>
          <a:prstGeom prst="straightConnector1">
            <a:avLst/>
          </a:prstGeom>
          <a:noFill/>
          <a:ln w="25400">
            <a:solidFill>
              <a:srgbClr val="5a3e1b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5"/>
          <p:cNvSpPr/>
          <p:nvPr/>
        </p:nvSpPr>
        <p:spPr>
          <a:xfrm>
            <a:off x="10350360" y="3048120"/>
            <a:ext cx="1396800" cy="634680"/>
          </a:xfrm>
          <a:prstGeom prst="roundRect">
            <a:avLst>
              <a:gd name="adj" fmla="val 12000"/>
            </a:avLst>
          </a:prstGeom>
          <a:solidFill>
            <a:srgbClr val="5a3e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26"/>
          <p:cNvSpPr/>
          <p:nvPr/>
        </p:nvSpPr>
        <p:spPr>
          <a:xfrm>
            <a:off x="10350360" y="3048120"/>
            <a:ext cx="13968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Liter"/>
                <a:ea typeface="Liter"/>
              </a:rPr>
              <a:t>7. Deploy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7"/>
          <p:cNvSpPr/>
          <p:nvPr/>
        </p:nvSpPr>
        <p:spPr>
          <a:xfrm>
            <a:off x="8636040" y="3873600"/>
            <a:ext cx="6603480" cy="20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5000"/>
              </a:lnSpc>
            </a:pPr>
            <a:r>
              <a:rPr b="0" lang="en-US" sz="1200" spc="-1" strike="noStrike">
                <a:solidFill>
                  <a:srgbClr val="b8874a"/>
                </a:solidFill>
                <a:latin typeface="Liter"/>
                <a:ea typeface="Liter"/>
              </a:rPr>
              <a:t>1.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</a:t>
            </a:r>
            <a:r>
              <a:rPr b="1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git checkout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scm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5000"/>
              </a:lnSpc>
            </a:pPr>
            <a:r>
              <a:rPr b="0" lang="en-US" sz="1200" spc="-1" strike="noStrike">
                <a:solidFill>
                  <a:srgbClr val="b8874a"/>
                </a:solidFill>
                <a:latin typeface="Liter"/>
                <a:ea typeface="Liter"/>
              </a:rPr>
              <a:t>2.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</a:t>
            </a:r>
            <a:r>
              <a:rPr b="1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npm ci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— parallel across services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5000"/>
              </a:lnSpc>
            </a:pPr>
            <a:r>
              <a:rPr b="0" lang="en-US" sz="1200" spc="-1" strike="noStrike">
                <a:solidFill>
                  <a:srgbClr val="b8874a"/>
                </a:solidFill>
                <a:latin typeface="Liter"/>
                <a:ea typeface="Liter"/>
              </a:rPr>
              <a:t>3.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</a:t>
            </a:r>
            <a:r>
              <a:rPr b="1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tsc --noEmit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— strict 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5000"/>
              </a:lnSpc>
            </a:pPr>
            <a:r>
              <a:rPr b="0" lang="en-US" sz="1200" spc="-1" strike="noStrike">
                <a:solidFill>
                  <a:srgbClr val="b8874a"/>
                </a:solidFill>
                <a:latin typeface="Liter"/>
                <a:ea typeface="Liter"/>
              </a:rPr>
              <a:t>4.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</a:t>
            </a:r>
            <a:r>
              <a:rPr b="1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npm run build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— Vite + tsc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5000"/>
              </a:lnSpc>
            </a:pPr>
            <a:r>
              <a:rPr b="0" lang="en-US" sz="1200" spc="-1" strike="noStrike">
                <a:solidFill>
                  <a:srgbClr val="b8874a"/>
                </a:solidFill>
                <a:latin typeface="Liter"/>
                <a:ea typeface="Liter"/>
              </a:rPr>
              <a:t>5.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</a:t>
            </a:r>
            <a:r>
              <a:rPr b="1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docker build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— 4 custom images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5000"/>
              </a:lnSpc>
            </a:pPr>
            <a:r>
              <a:rPr b="0" lang="en-US" sz="1200" spc="-1" strike="noStrike">
                <a:solidFill>
                  <a:srgbClr val="b8874a"/>
                </a:solidFill>
                <a:latin typeface="Liter"/>
                <a:ea typeface="Liter"/>
              </a:rPr>
              <a:t>6.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</a:t>
            </a:r>
            <a:r>
              <a:rPr b="1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push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to Docker Hub registry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5000"/>
              </a:lnSpc>
            </a:pPr>
            <a:r>
              <a:rPr b="0" lang="en-US" sz="1200" spc="-1" strike="noStrike">
                <a:solidFill>
                  <a:srgbClr val="b8874a"/>
                </a:solidFill>
                <a:latin typeface="Liter"/>
                <a:ea typeface="Liter"/>
              </a:rPr>
              <a:t>7.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</a:t>
            </a:r>
            <a:r>
              <a:rPr b="1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docker compose up</a:t>
            </a:r>
            <a:r>
              <a:rPr b="0" lang="en-US" sz="1200" spc="-1" strike="noStrike">
                <a:solidFill>
                  <a:srgbClr val="1a1209"/>
                </a:solidFill>
                <a:latin typeface="Liter"/>
                <a:ea typeface="Liter"/>
              </a:rPr>
              <a:t> --build -d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8"/>
          <p:cNvSpPr/>
          <p:nvPr/>
        </p:nvSpPr>
        <p:spPr>
          <a:xfrm>
            <a:off x="762120" y="6858000"/>
            <a:ext cx="14731560" cy="482400"/>
          </a:xfrm>
          <a:prstGeom prst="roundRect">
            <a:avLst>
              <a:gd name="adj" fmla="val 10000"/>
            </a:avLst>
          </a:prstGeom>
          <a:solidFill>
            <a:srgbClr val="d4a76a">
              <a:alpha val="15000"/>
            </a:srgbClr>
          </a:solidFill>
          <a:ln w="25400">
            <a:solidFill>
              <a:srgbClr val="d4a7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9"/>
          <p:cNvSpPr/>
          <p:nvPr/>
        </p:nvSpPr>
        <p:spPr>
          <a:xfrm>
            <a:off x="1015920" y="6858000"/>
            <a:ext cx="142236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Single command to deploy entire stack: </a:t>
            </a:r>
            <a:r>
              <a:rPr b="0" i="1" lang="en-US" sz="1600" spc="-1" strike="noStrike">
                <a:solidFill>
                  <a:srgbClr val="fff8f0"/>
                </a:solidFill>
                <a:latin typeface="Liter"/>
                <a:ea typeface="Liter"/>
              </a:rPr>
              <a:t>docker compose up --build -d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0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185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5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762120" y="444600"/>
            <a:ext cx="8889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Results &amp; Output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762120" y="1270080"/>
            <a:ext cx="7238520" cy="292068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25400">
            <a:solidFill>
              <a:srgbClr val="5a3e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762120" y="4254480"/>
            <a:ext cx="723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Login page — glassmorphism on cork background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8255160" y="1270080"/>
            <a:ext cx="7238520" cy="292068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25400">
            <a:solidFill>
              <a:srgbClr val="5a3e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8255160" y="4254480"/>
            <a:ext cx="723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Board with sticky notes — handwriting font, colored pins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762120" y="4826160"/>
            <a:ext cx="7238520" cy="292068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25400">
            <a:solidFill>
              <a:srgbClr val="5a3e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8"/>
          <p:cNvSpPr/>
          <p:nvPr/>
        </p:nvSpPr>
        <p:spPr>
          <a:xfrm>
            <a:off x="762120" y="7810560"/>
            <a:ext cx="723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Pin tray + Board Stability widget — 2 pins removed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9"/>
          <p:cNvSpPr/>
          <p:nvPr/>
        </p:nvSpPr>
        <p:spPr>
          <a:xfrm>
            <a:off x="8255160" y="4826160"/>
            <a:ext cx="7238520" cy="292068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25400">
            <a:solidFill>
              <a:srgbClr val="5a3e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8255160" y="7810560"/>
            <a:ext cx="723852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Real-time collaboration — two users on same board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762120" y="8318520"/>
            <a:ext cx="14731560" cy="380520"/>
          </a:xfrm>
          <a:prstGeom prst="roundRect">
            <a:avLst>
              <a:gd name="adj" fmla="val 10000"/>
            </a:avLst>
          </a:prstGeom>
          <a:solidFill>
            <a:srgbClr val="1e18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2"/>
          <p:cNvSpPr/>
          <p:nvPr/>
        </p:nvSpPr>
        <p:spPr>
          <a:xfrm>
            <a:off x="888840" y="8318520"/>
            <a:ext cx="14477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✅ </a:t>
            </a:r>
            <a:r>
              <a:rPr b="0" lang="en-US" sz="1100" spc="-1" strike="noStrike">
                <a:solidFill>
                  <a:srgbClr val="fff8f0"/>
                </a:solidFill>
                <a:latin typeface="Quattrocento Sans"/>
                <a:ea typeface="Quattrocento Sans"/>
              </a:rPr>
              <a:t>3 Microservices · ✅ 7 Docker Containers · ✅ &lt;200ms Sync · ✅ JWT 7-Day · ✅ TypeScript Strict · ✅ NGINX Rate Limit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3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Image 1" descr="https://kimi-img.moonshot.cn/pub/slides/26-05-31-00:39:02-d8dh59nvg7e3jatl3sjg.png"/>
          <p:cNvPicPr/>
          <p:nvPr/>
        </p:nvPicPr>
        <p:blipFill>
          <a:blip r:embed="rId2"/>
          <a:stretch/>
        </p:blipFill>
        <p:spPr>
          <a:xfrm>
            <a:off x="1024920" y="1352520"/>
            <a:ext cx="6712560" cy="2755440"/>
          </a:xfrm>
          <a:prstGeom prst="rect">
            <a:avLst/>
          </a:prstGeom>
          <a:ln w="0">
            <a:noFill/>
          </a:ln>
        </p:spPr>
      </p:pic>
      <p:pic>
        <p:nvPicPr>
          <p:cNvPr id="200" name="Image 2" descr="https://kimi-img.moonshot.cn/pub/slides/26-05-31-00:46:23-d8dh8nrmv21i3p38i8hg.png"/>
          <p:cNvPicPr/>
          <p:nvPr/>
        </p:nvPicPr>
        <p:blipFill>
          <a:blip r:embed="rId3"/>
          <a:stretch/>
        </p:blipFill>
        <p:spPr>
          <a:xfrm>
            <a:off x="9191880" y="1384200"/>
            <a:ext cx="5365080" cy="2692080"/>
          </a:xfrm>
          <a:prstGeom prst="rect">
            <a:avLst/>
          </a:prstGeom>
          <a:ln w="0">
            <a:noFill/>
          </a:ln>
        </p:spPr>
      </p:pic>
      <p:pic>
        <p:nvPicPr>
          <p:cNvPr id="201" name="Image 3" descr="https://kimi-img.moonshot.cn/pub/slides/26-05-31-00:47:38-d8dh9ahvb51lcl022qlg.png"/>
          <p:cNvPicPr/>
          <p:nvPr/>
        </p:nvPicPr>
        <p:blipFill>
          <a:blip r:embed="rId4"/>
          <a:stretch/>
        </p:blipFill>
        <p:spPr>
          <a:xfrm>
            <a:off x="1656360" y="4919040"/>
            <a:ext cx="5450040" cy="2734920"/>
          </a:xfrm>
          <a:prstGeom prst="rect">
            <a:avLst/>
          </a:prstGeom>
          <a:ln w="0">
            <a:noFill/>
          </a:ln>
        </p:spPr>
      </p:pic>
      <p:pic>
        <p:nvPicPr>
          <p:cNvPr id="202" name="Image 4" descr="https://kimi-img.moonshot.cn/pub/slides/26-05-31-00:52:49-d8dhbo9nu950eug2bf4g.png"/>
          <p:cNvPicPr/>
          <p:nvPr/>
        </p:nvPicPr>
        <p:blipFill>
          <a:blip r:embed="rId5"/>
          <a:stretch/>
        </p:blipFill>
        <p:spPr>
          <a:xfrm>
            <a:off x="9191880" y="4949280"/>
            <a:ext cx="5329440" cy="267444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Image 0" descr="https://kimi-img.moonshot.cn/pub/slides/okc/3gz24lk36vj3w/mnt/agents/output/pinboard/images/1_7_400_Cork_Board_Detail_Texture_Stock.png"/>
          <p:cNvPicPr/>
          <p:nvPr/>
        </p:nvPicPr>
        <p:blipFill>
          <a:blip r:embed="rId1"/>
          <a:srcRect l="0" t="7606" r="0" b="7606"/>
          <a:stretch/>
        </p:blipFill>
        <p:spPr>
          <a:xfrm>
            <a:off x="0" y="0"/>
            <a:ext cx="16255800" cy="9143640"/>
          </a:xfrm>
          <a:prstGeom prst="rect">
            <a:avLst/>
          </a:prstGeom>
          <a:ln w="0">
            <a:noFill/>
          </a:ln>
        </p:spPr>
      </p:pic>
      <p:sp>
        <p:nvSpPr>
          <p:cNvPr id="204" name="Shape 0"/>
          <p:cNvSpPr/>
          <p:nvPr/>
        </p:nvSpPr>
        <p:spPr>
          <a:xfrm>
            <a:off x="0" y="0"/>
            <a:ext cx="16255800" cy="9143640"/>
          </a:xfrm>
          <a:prstGeom prst="rect">
            <a:avLst/>
          </a:prstGeom>
          <a:solidFill>
            <a:srgbClr val="1a1209">
              <a:alpha val="63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1"/>
          <p:cNvSpPr/>
          <p:nvPr/>
        </p:nvSpPr>
        <p:spPr>
          <a:xfrm>
            <a:off x="15176520" y="254160"/>
            <a:ext cx="380520" cy="507600"/>
          </a:xfrm>
          <a:custGeom>
            <a:avLst/>
            <a:gdLst>
              <a:gd name="textAreaLeft" fmla="*/ 0 w 380520"/>
              <a:gd name="textAreaRight" fmla="*/ 380880 w 380520"/>
              <a:gd name="textAreaTop" fmla="*/ 0 h 507600"/>
              <a:gd name="textAreaBottom" fmla="*/ 507960 h 507600"/>
            </a:gdLst>
            <a:ahLst/>
            <a:rect l="textAreaLeft" t="textAreaTop" r="textAreaRight" b="textAreaBottom"/>
            <a:pathLst>
              <a:path w="381000" h="508000">
                <a:moveTo>
                  <a:pt x="31750" y="31750"/>
                </a:moveTo>
                <a:cubicBezTo>
                  <a:pt x="31750" y="14188"/>
                  <a:pt x="45938" y="0"/>
                  <a:pt x="63500" y="0"/>
                </a:cubicBezTo>
                <a:lnTo>
                  <a:pt x="317500" y="0"/>
                </a:lnTo>
                <a:cubicBezTo>
                  <a:pt x="335062" y="0"/>
                  <a:pt x="349250" y="14188"/>
                  <a:pt x="349250" y="31750"/>
                </a:cubicBezTo>
                <a:cubicBezTo>
                  <a:pt x="349250" y="49312"/>
                  <a:pt x="335062" y="63500"/>
                  <a:pt x="317500" y="63500"/>
                </a:cubicBezTo>
                <a:lnTo>
                  <a:pt x="288230" y="63500"/>
                </a:lnTo>
                <a:lnTo>
                  <a:pt x="298450" y="196552"/>
                </a:lnTo>
                <a:cubicBezTo>
                  <a:pt x="335260" y="217587"/>
                  <a:pt x="363736" y="252512"/>
                  <a:pt x="376039" y="295473"/>
                </a:cubicBezTo>
                <a:lnTo>
                  <a:pt x="379809" y="308769"/>
                </a:lnTo>
                <a:cubicBezTo>
                  <a:pt x="382588" y="318393"/>
                  <a:pt x="380603" y="328613"/>
                  <a:pt x="374650" y="336649"/>
                </a:cubicBezTo>
                <a:cubicBezTo>
                  <a:pt x="368697" y="344686"/>
                  <a:pt x="359172" y="349250"/>
                  <a:pt x="349250" y="349250"/>
                </a:cubicBezTo>
                <a:lnTo>
                  <a:pt x="31750" y="349250"/>
                </a:lnTo>
                <a:cubicBezTo>
                  <a:pt x="21828" y="349250"/>
                  <a:pt x="12402" y="344587"/>
                  <a:pt x="6449" y="336649"/>
                </a:cubicBezTo>
                <a:cubicBezTo>
                  <a:pt x="496" y="328712"/>
                  <a:pt x="-1488" y="318393"/>
                  <a:pt x="1290" y="308769"/>
                </a:cubicBezTo>
                <a:lnTo>
                  <a:pt x="4961" y="295473"/>
                </a:lnTo>
                <a:cubicBezTo>
                  <a:pt x="17264" y="252512"/>
                  <a:pt x="45641" y="217587"/>
                  <a:pt x="82550" y="196552"/>
                </a:cubicBezTo>
                <a:lnTo>
                  <a:pt x="92770" y="63500"/>
                </a:lnTo>
                <a:lnTo>
                  <a:pt x="63500" y="63500"/>
                </a:lnTo>
                <a:cubicBezTo>
                  <a:pt x="45938" y="63500"/>
                  <a:pt x="31750" y="49312"/>
                  <a:pt x="31750" y="31750"/>
                </a:cubicBezTo>
                <a:close/>
                <a:moveTo>
                  <a:pt x="158750" y="396875"/>
                </a:moveTo>
                <a:lnTo>
                  <a:pt x="222250" y="396875"/>
                </a:lnTo>
                <a:lnTo>
                  <a:pt x="222250" y="508000"/>
                </a:lnTo>
                <a:cubicBezTo>
                  <a:pt x="222250" y="525562"/>
                  <a:pt x="208062" y="539750"/>
                  <a:pt x="190500" y="539750"/>
                </a:cubicBezTo>
                <a:cubicBezTo>
                  <a:pt x="172938" y="539750"/>
                  <a:pt x="158750" y="525562"/>
                  <a:pt x="158750" y="508000"/>
                </a:cubicBezTo>
                <a:lnTo>
                  <a:pt x="158750" y="396875"/>
                </a:lnTo>
                <a:close/>
              </a:path>
            </a:pathLst>
          </a:custGeom>
          <a:solidFill>
            <a:srgbClr val="d4a7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762120" y="444600"/>
            <a:ext cx="8889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30000"/>
              </a:lnSpc>
            </a:pPr>
            <a:r>
              <a:rPr b="0" lang="en-US" sz="3200" spc="-1" strike="noStrike">
                <a:solidFill>
                  <a:srgbClr val="fff8f0"/>
                </a:solidFill>
                <a:latin typeface="Oranienbaum"/>
                <a:ea typeface="Oranienbaum"/>
              </a:rPr>
              <a:t>Future Scope &amp; Conclusion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762120" y="1270080"/>
            <a:ext cx="8635680" cy="58417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1015920" y="1422360"/>
            <a:ext cx="3809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1a1209"/>
                </a:solidFill>
                <a:latin typeface="Oranienbaum"/>
                <a:ea typeface="Oranienbaum"/>
              </a:rPr>
              <a:t>Future Enhancements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1015920" y="1968480"/>
            <a:ext cx="8127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🔮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Phase 1 — Enhanced Collaboration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1015920" y="2324160"/>
            <a:ext cx="81277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</a:pP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Voice/video chat · Drawing tools (pen, shapes) · Version history · @mentions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1015920" y="3022560"/>
            <a:ext cx="8127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🔮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Phase 2 — AI Integration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1015920" y="3378240"/>
            <a:ext cx="81277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</a:pP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AI note summarization · Auto-categorize &amp; cluster · Smart reminders · Template from transcripts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1015920" y="4076640"/>
            <a:ext cx="8127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🔮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Phase 3 — Enterprise 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1015920" y="4432320"/>
            <a:ext cx="81277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</a:pP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Organization workspaces · Export to PDF/PNG/Miro · SSO (Google, GitHub) · Audit logs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1015920" y="5130720"/>
            <a:ext cx="8127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🔮 </a:t>
            </a: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Phase 4 — Mobile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2"/>
          <p:cNvSpPr/>
          <p:nvPr/>
        </p:nvSpPr>
        <p:spPr>
          <a:xfrm>
            <a:off x="1015920" y="5486400"/>
            <a:ext cx="812772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</a:pP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React Native app · Offline-first with sync · Touch gestures for pinch zoom and drag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3"/>
          <p:cNvSpPr/>
          <p:nvPr/>
        </p:nvSpPr>
        <p:spPr>
          <a:xfrm>
            <a:off x="1015920" y="6222960"/>
            <a:ext cx="8127720" cy="12240"/>
          </a:xfrm>
          <a:prstGeom prst="rect">
            <a:avLst/>
          </a:prstGeom>
          <a:solidFill>
            <a:srgbClr val="5a3e1b">
              <a:alpha val="1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4"/>
          <p:cNvSpPr/>
          <p:nvPr/>
        </p:nvSpPr>
        <p:spPr>
          <a:xfrm>
            <a:off x="1015920" y="6350040"/>
            <a:ext cx="8127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6b8f5e"/>
                </a:solidFill>
                <a:latin typeface="Quattrocento Sans"/>
                <a:ea typeface="Quattrocento Sans"/>
              </a:rPr>
              <a:t>✅ </a:t>
            </a:r>
            <a:r>
              <a:rPr b="1" lang="en-US" sz="1600" spc="-1" strike="noStrike">
                <a:solidFill>
                  <a:srgbClr val="6b8f5e"/>
                </a:solidFill>
                <a:latin typeface="Quattrocento Sans"/>
                <a:ea typeface="Quattrocento Sans"/>
              </a:rPr>
              <a:t>Academic Requirements Met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5"/>
          <p:cNvSpPr/>
          <p:nvPr/>
        </p:nvSpPr>
        <p:spPr>
          <a:xfrm>
            <a:off x="1015920" y="6705720"/>
            <a:ext cx="8127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</a:pPr>
            <a:r>
              <a:rPr b="0" lang="en-US" sz="13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MERN Stack · 3+ Microservices · docker-compose · Custom Dockerfiles · Jenkins CI/CD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6"/>
          <p:cNvSpPr/>
          <p:nvPr/>
        </p:nvSpPr>
        <p:spPr>
          <a:xfrm>
            <a:off x="9779040" y="1270080"/>
            <a:ext cx="5714640" cy="58417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10032840" y="1422360"/>
            <a:ext cx="38095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1a1209"/>
                </a:solidFill>
                <a:latin typeface="Oranienbaum"/>
                <a:ea typeface="Oranienbaum"/>
              </a:rPr>
              <a:t>Conclusion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8"/>
          <p:cNvSpPr/>
          <p:nvPr/>
        </p:nvSpPr>
        <p:spPr>
          <a:xfrm>
            <a:off x="10032840" y="2006640"/>
            <a:ext cx="5206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What We Built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9"/>
          <p:cNvSpPr/>
          <p:nvPr/>
        </p:nvSpPr>
        <p:spPr>
          <a:xfrm>
            <a:off x="10032840" y="2387520"/>
            <a:ext cx="520668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</a:pP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A production-grade collaborative infinite corkboard — not a CRUD app, but a genuinely interactive product.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0"/>
          <p:cNvSpPr/>
          <p:nvPr/>
        </p:nvSpPr>
        <p:spPr>
          <a:xfrm>
            <a:off x="10032840" y="3238560"/>
            <a:ext cx="5206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Technologies Mastered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1"/>
          <p:cNvSpPr/>
          <p:nvPr/>
        </p:nvSpPr>
        <p:spPr>
          <a:xfrm>
            <a:off x="10032840" y="3619440"/>
            <a:ext cx="5206680" cy="177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5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Full MERN stack with TypeScript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5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Microservices architecture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5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Real-time WebSocket collaboration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5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Docker containerization &amp; CI/CD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45000"/>
              </a:lnSpc>
            </a:pPr>
            <a:r>
              <a:rPr b="0" lang="en-US" sz="1400" spc="-1" strike="noStrike">
                <a:solidFill>
                  <a:srgbClr val="5a3e1b"/>
                </a:solidFill>
                <a:latin typeface="Quattrocento Sans"/>
                <a:ea typeface="Quattrocento Sans"/>
              </a:rPr>
              <a:t>•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 </a:t>
            </a:r>
            <a:r>
              <a:rPr b="0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Advanced React animations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22"/>
          <p:cNvSpPr/>
          <p:nvPr/>
        </p:nvSpPr>
        <p:spPr>
          <a:xfrm>
            <a:off x="10032840" y="5524560"/>
            <a:ext cx="5206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b8874a"/>
                </a:solidFill>
                <a:latin typeface="Quattrocento Sans"/>
                <a:ea typeface="Quattrocento Sans"/>
              </a:rPr>
              <a:t>Final Outcome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3"/>
          <p:cNvSpPr/>
          <p:nvPr/>
        </p:nvSpPr>
        <p:spPr>
          <a:xfrm>
            <a:off x="10032840" y="5905440"/>
            <a:ext cx="5206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50000"/>
              </a:lnSpc>
            </a:pPr>
            <a:r>
              <a:rPr b="0" i="1" lang="en-US" sz="1400" spc="-1" strike="noStrike">
                <a:solidFill>
                  <a:srgbClr val="1a1209"/>
                </a:solidFill>
                <a:latin typeface="Quattrocento Sans"/>
                <a:ea typeface="Quattrocento Sans"/>
              </a:rPr>
              <a:t>PinBoard demonstrates that a college project can achieve production-quality software engineering.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4"/>
          <p:cNvSpPr/>
          <p:nvPr/>
        </p:nvSpPr>
        <p:spPr>
          <a:xfrm>
            <a:off x="762120" y="7365960"/>
            <a:ext cx="14731560" cy="761760"/>
          </a:xfrm>
          <a:prstGeom prst="roundRect">
            <a:avLst>
              <a:gd name="adj" fmla="val 10000"/>
            </a:avLst>
          </a:prstGeom>
          <a:solidFill>
            <a:srgbClr val="b8874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5"/>
          <p:cNvSpPr/>
          <p:nvPr/>
        </p:nvSpPr>
        <p:spPr>
          <a:xfrm>
            <a:off x="1015920" y="7365960"/>
            <a:ext cx="142236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199" strike="noStrike">
                <a:solidFill>
                  <a:srgbClr val="fff8f0"/>
                </a:solidFill>
                <a:latin typeface="Oranienbaum"/>
                <a:ea typeface="Oranienbaum"/>
              </a:rPr>
              <a:t>"Built to production standards. Designed for real teams. Deployed with Docker."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6"/>
          <p:cNvSpPr/>
          <p:nvPr/>
        </p:nvSpPr>
        <p:spPr>
          <a:xfrm>
            <a:off x="5587920" y="8763120"/>
            <a:ext cx="507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40000"/>
              </a:lnSpc>
            </a:pPr>
            <a:r>
              <a:rPr b="0" lang="en-US" sz="1200" spc="-1" strike="noStrike">
                <a:solidFill>
                  <a:srgbClr val="fff8f0"/>
                </a:solidFill>
                <a:latin typeface="QuattrocentoSans"/>
                <a:ea typeface="QuattrocentoSans"/>
              </a:rPr>
              <a:t>PinBoard | Major Project 2025–26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2026-05-30T16:54:09Z</dcterms:created>
  <dc:creator>Kimi</dc:creator>
  <dc:description/>
  <dc:language>en-US</dc:language>
  <cp:lastModifiedBy/>
  <dcterms:modified xsi:type="dcterms:W3CDTF">2026-05-30T22:25:55Z</dcterms:modified>
  <cp:revision>2</cp:revision>
  <dc:subject>PinBoard — Collaborative Infinite Corkboard</dc:subject>
  <dc:title>PinBoard — Collaborative Infinite Corkboard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{"Label":"PinBoard — Collaborative Infinite Corkboard","ContentProducer":"001191110108MACG2KBH8F10000","ProduceID":"19e782d3-2712-8412-8000-0000e93563c0","ReservedCode1":"","ContentPropagator":"001191110108MACG2KBH8F20000","PropagateID":"19e782d3-2712-8412-8000-0000e93563c0","ReservedCode2":""}</vt:lpwstr>
  </property>
  <property fmtid="{D5CDD505-2E9C-101B-9397-08002B2CF9AE}" pid="3" name="Notes">
    <vt:i4>10</vt:i4>
  </property>
  <property fmtid="{D5CDD505-2E9C-101B-9397-08002B2CF9AE}" pid="4" name="PresentationFormat">
    <vt:lpwstr>On-screen Show (16:9)</vt:lpwstr>
  </property>
  <property fmtid="{D5CDD505-2E9C-101B-9397-08002B2CF9AE}" pid="5" name="Slides">
    <vt:i4>10</vt:i4>
  </property>
</Properties>
</file>